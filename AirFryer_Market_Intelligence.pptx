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C3E50"/>
                </a:solidFill>
                <a:latin typeface="Arial"/>
              </a:defRPr>
            </a:pPr>
            <a:r>
              <a:rPr sz="1100" b="0" i="0" u="none" strike="noStrike">
                <a:solidFill>
                  <a:srgbClr val="2C3E50"/>
                </a:solidFill>
                <a:latin typeface="Arial"/>
              </a:rPr>
              <a:t>Avg Price by Brand (select)</a:t>
            </a:r>
          </a:p>
        </c:rich>
      </c:tx>
      <c:layout/>
      <c:overlay val="0"/>
    </c:title>
    <c:autoTitleDeleted val="0"/>
    <c:plotArea>
      <c:layout/>
      <c:lineChart>
        <c:varyColors val="0"/>
        <c:ser>
          <c:idx val="0"/>
          <c:order val="0"/>
          <c:tx>
            <c:strRef>
              <c:f>Sheet1!$B$1</c:f>
              <c:strCache>
                <c:ptCount val="1"/>
                <c:pt idx="0">
                  <c:v>Cuisinart</c:v>
                </c:pt>
              </c:strCache>
            </c:strRef>
          </c:tx>
          <c:spPr>
            <a:solidFill>
              <a:srgbClr val="B85042"/>
            </a:solidFill>
            <a:ln w="25400" cap="flat">
              <a:solidFill>
                <a:srgbClr val="B850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5042"/>
              </a:solidFill>
              <a:ln w="9525" cap="flat">
                <a:solidFill>
                  <a:srgbClr val="B85042"/>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229.5</c:v>
                </c:pt>
                <c:pt idx="1">
                  <c:v>227.9</c:v>
                </c:pt>
                <c:pt idx="2">
                  <c:v>224.3</c:v>
                </c:pt>
                <c:pt idx="3">
                  <c:v>223.5</c:v>
                </c:pt>
                <c:pt idx="4">
                  <c:v>214.5</c:v>
                </c:pt>
              </c:numCache>
            </c:numRef>
          </c:val>
          <c:smooth val="0"/>
        </c:ser>
        <c:ser>
          <c:idx val="1"/>
          <c:order val="1"/>
          <c:tx>
            <c:strRef>
              <c:f>Sheet1!$C$1</c:f>
              <c:strCache>
                <c:ptCount val="1"/>
                <c:pt idx="0">
                  <c:v>Ninja</c:v>
                </c:pt>
              </c:strCache>
            </c:strRef>
          </c:tx>
          <c:spPr>
            <a:solidFill>
              <a:srgbClr val="1E2761"/>
            </a:solidFill>
            <a:ln w="254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112.2</c:v>
                </c:pt>
                <c:pt idx="1">
                  <c:v>140.5</c:v>
                </c:pt>
                <c:pt idx="2">
                  <c:v>166.7</c:v>
                </c:pt>
                <c:pt idx="3">
                  <c:v>156.4</c:v>
                </c:pt>
                <c:pt idx="4">
                  <c:v>151.1</c:v>
                </c:pt>
              </c:numCache>
            </c:numRef>
          </c:val>
          <c:smooth val="0"/>
        </c:ser>
        <c:ser>
          <c:idx val="2"/>
          <c:order val="2"/>
          <c:tx>
            <c:strRef>
              <c:f>Sheet1!$D$1</c:f>
              <c:strCache>
                <c:ptCount val="1"/>
                <c:pt idx="0">
                  <c:v>Dash</c:v>
                </c:pt>
              </c:strCache>
            </c:strRef>
          </c:tx>
          <c:spPr>
            <a:solidFill>
              <a:srgbClr val="27AE60"/>
            </a:solidFill>
            <a:ln w="25400" cap="flat">
              <a:solidFill>
                <a:srgbClr val="27AE6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7AE60"/>
              </a:solidFill>
              <a:ln w="9525" cap="flat">
                <a:solidFill>
                  <a:srgbClr val="27AE60"/>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55.2</c:v>
                </c:pt>
                <c:pt idx="1">
                  <c:v>58.4</c:v>
                </c:pt>
                <c:pt idx="2">
                  <c:v>57.7</c:v>
                </c:pt>
                <c:pt idx="3">
                  <c:v>57.2</c:v>
                </c:pt>
                <c:pt idx="4">
                  <c:v>59</c:v>
                </c:pt>
              </c:numCache>
            </c:numRef>
          </c:val>
          <c:smooth val="0"/>
        </c:ser>
        <c:ser>
          <c:idx val="3"/>
          <c:order val="3"/>
          <c:tx>
            <c:strRef>
              <c:f>Sheet1!$E$1</c:f>
              <c:strCache>
                <c:ptCount val="1"/>
                <c:pt idx="0">
                  <c:v>Instant Pot</c:v>
                </c:pt>
              </c:strCache>
            </c:strRef>
          </c:tx>
          <c:spPr>
            <a:solidFill>
              <a:srgbClr val="F39C12"/>
            </a:solidFill>
            <a:ln w="25400" cap="flat">
              <a:solidFill>
                <a:srgbClr val="F39C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39C12"/>
              </a:solidFill>
              <a:ln w="9525" cap="flat">
                <a:solidFill>
                  <a:srgbClr val="F39C12"/>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Sheet1!$E$2:$E$6</c:f>
              <c:numCache>
                <c:formatCode>General</c:formatCode>
                <c:ptCount val="5"/>
                <c:pt idx="0">
                  <c:v>78</c:v>
                </c:pt>
                <c:pt idx="1">
                  <c:v>120.1</c:v>
                </c:pt>
                <c:pt idx="2">
                  <c:v>113.6</c:v>
                </c:pt>
                <c:pt idx="3">
                  <c:v>106.1</c:v>
                </c:pt>
                <c:pt idx="4">
                  <c:v>104.5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C3E50"/>
                </a:solidFill>
                <a:latin typeface="Arial"/>
              </a:defRPr>
            </a:pPr>
            <a:r>
              <a:rPr sz="1100" b="0" i="0" u="none" strike="noStrike">
                <a:solidFill>
                  <a:srgbClr val="2C3E50"/>
                </a:solidFill>
                <a:latin typeface="Arial"/>
              </a:rPr>
              <a:t>Market Share by Brand (select)</a:t>
            </a:r>
          </a:p>
        </c:rich>
      </c:tx>
      <c:layout/>
      <c:overlay val="0"/>
    </c:title>
    <c:autoTitleDeleted val="0"/>
    <c:plotArea>
      <c:layout/>
      <c:lineChart>
        <c:varyColors val="0"/>
        <c:ser>
          <c:idx val="0"/>
          <c:order val="0"/>
          <c:tx>
            <c:strRef>
              <c:f>Sheet1!$B$1</c:f>
              <c:strCache>
                <c:ptCount val="1"/>
                <c:pt idx="0">
                  <c:v>Gowise USA</c:v>
                </c:pt>
              </c:strCache>
            </c:strRef>
          </c:tx>
          <c:spPr>
            <a:solidFill>
              <a:srgbClr val="E74C3C"/>
            </a:solidFill>
            <a:ln w="25400" cap="flat">
              <a:solidFill>
                <a:srgbClr val="E74C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74C3C"/>
              </a:solidFill>
              <a:ln w="9525" cap="flat">
                <a:solidFill>
                  <a:srgbClr val="E74C3C"/>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0.3</c:v>
                </c:pt>
                <c:pt idx="1">
                  <c:v>0.15</c:v>
                </c:pt>
                <c:pt idx="2">
                  <c:v>0.2</c:v>
                </c:pt>
                <c:pt idx="3">
                  <c:v>0.08</c:v>
                </c:pt>
                <c:pt idx="4">
                  <c:v>0.05</c:v>
                </c:pt>
              </c:numCache>
            </c:numRef>
          </c:val>
          <c:smooth val="0"/>
        </c:ser>
        <c:ser>
          <c:idx val="1"/>
          <c:order val="1"/>
          <c:tx>
            <c:strRef>
              <c:f>Sheet1!$C$1</c:f>
              <c:strCache>
                <c:ptCount val="1"/>
                <c:pt idx="0">
                  <c:v>Instant Pot</c:v>
                </c:pt>
              </c:strCache>
            </c:strRef>
          </c:tx>
          <c:spPr>
            <a:solidFill>
              <a:srgbClr val="1E2761"/>
            </a:solidFill>
            <a:ln w="254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0.02</c:v>
                </c:pt>
                <c:pt idx="1">
                  <c:v>0.1</c:v>
                </c:pt>
                <c:pt idx="2">
                  <c:v>0.2</c:v>
                </c:pt>
                <c:pt idx="3">
                  <c:v>0.28</c:v>
                </c:pt>
                <c:pt idx="4">
                  <c:v>0.26</c:v>
                </c:pt>
              </c:numCache>
            </c:numRef>
          </c:val>
          <c:smooth val="0"/>
        </c:ser>
        <c:ser>
          <c:idx val="2"/>
          <c:order val="2"/>
          <c:tx>
            <c:strRef>
              <c:f>Sheet1!$D$1</c:f>
              <c:strCache>
                <c:ptCount val="1"/>
                <c:pt idx="0">
                  <c:v>Ninja</c:v>
                </c:pt>
              </c:strCache>
            </c:strRef>
          </c:tx>
          <c:spPr>
            <a:solidFill>
              <a:srgbClr val="F39C12"/>
            </a:solidFill>
            <a:ln w="25400" cap="flat">
              <a:solidFill>
                <a:srgbClr val="F39C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39C12"/>
              </a:solidFill>
              <a:ln w="9525" cap="flat">
                <a:solidFill>
                  <a:srgbClr val="F39C12"/>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0.11</c:v>
                </c:pt>
                <c:pt idx="1">
                  <c:v>0.15</c:v>
                </c:pt>
                <c:pt idx="2">
                  <c:v>0.18</c:v>
                </c:pt>
                <c:pt idx="3">
                  <c:v>0.14</c:v>
                </c:pt>
                <c:pt idx="4">
                  <c:v>0.14</c:v>
                </c:pt>
              </c:numCache>
            </c:numRef>
          </c:val>
          <c:smooth val="0"/>
        </c:ser>
        <c:ser>
          <c:idx val="3"/>
          <c:order val="3"/>
          <c:tx>
            <c:strRef>
              <c:f>Sheet1!$E$1</c:f>
              <c:strCache>
                <c:ptCount val="1"/>
                <c:pt idx="0">
                  <c:v>Dash</c:v>
                </c:pt>
              </c:strCache>
            </c:strRef>
          </c:tx>
          <c:spPr>
            <a:solidFill>
              <a:srgbClr val="27AE60"/>
            </a:solidFill>
            <a:ln w="25400" cap="flat">
              <a:solidFill>
                <a:srgbClr val="27AE6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7AE60"/>
              </a:solidFill>
              <a:ln w="9525" cap="flat">
                <a:solidFill>
                  <a:srgbClr val="27AE60"/>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Sheet1!$E$2:$E$6</c:f>
              <c:numCache>
                <c:formatCode>General</c:formatCode>
                <c:ptCount val="5"/>
                <c:pt idx="0">
                  <c:v>0.2</c:v>
                </c:pt>
                <c:pt idx="1">
                  <c:v>0.1</c:v>
                </c:pt>
                <c:pt idx="2">
                  <c:v>0.08</c:v>
                </c:pt>
                <c:pt idx="3">
                  <c:v>0.07</c:v>
                </c:pt>
                <c:pt idx="4">
                  <c:v>0.05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C3E50"/>
                </a:solidFill>
                <a:latin typeface="Arial"/>
              </a:defRPr>
            </a:pPr>
            <a:r>
              <a:rPr sz="1100" b="0" i="0" u="none" strike="noStrike">
                <a:solidFill>
                  <a:srgbClr val="2C3E50"/>
                </a:solidFill>
                <a:latin typeface="Arial"/>
              </a:rPr>
              <a:t>Product Feature Coefficients</a:t>
            </a:r>
          </a:p>
        </c:rich>
      </c:tx>
      <c:layout/>
      <c:overlay val="0"/>
    </c:title>
    <c:autoTitleDeleted val="0"/>
    <c:plotArea>
      <c:layout/>
      <c:barChart>
        <c:barDir val="bar"/>
        <c:grouping val="clustered"/>
        <c:varyColors val="0"/>
        <c:ser>
          <c:idx val="0"/>
          <c:order val="0"/>
          <c:tx>
            <c:strRef>
              <c:f>Sheet1!$B$1</c:f>
              <c:strCache>
                <c:ptCount val="1"/>
                <c:pt idx="0">
                  <c:v>Coefficient</c:v>
                </c:pt>
              </c:strCache>
            </c:strRef>
          </c:tx>
          <c:spPr>
            <a:solidFill>
              <a:srgbClr val="1E2761"/>
            </a:solidFill>
            <a:effectLst/>
          </c:spPr>
          <c:invertIfNegative val="0"/>
          <c:dLbls>
            <c:numFmt formatCode="#,##0" sourceLinked="0"/>
            <c:txPr>
              <a:bodyPr/>
              <a:lstStyle/>
              <a:p>
                <a:pPr>
                  <a:defRPr b="0" i="0" strike="noStrike" sz="800" u="none">
                    <a:solidFill>
                      <a:srgbClr val="2C3E50"/>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27AE60"/>
              </a:solidFill>
              <a:effectLst/>
            </c:spPr>
          </c:dPt>
          <c:dPt>
            <c:idx val="4"/>
            <c:invertIfNegative val="0"/>
            <c:bubble3D val="0"/>
            <c:spPr>
              <a:solidFill>
                <a:srgbClr val="E74C3C"/>
              </a:solidFill>
              <a:effectLst/>
            </c:spPr>
          </c:dPt>
          <c:dPt>
            <c:idx val="5"/>
            <c:invertIfNegative val="0"/>
            <c:bubble3D val="0"/>
            <c:spPr>
              <a:solidFill>
                <a:srgbClr val="E74C3C"/>
              </a:solidFill>
              <a:effectLst/>
            </c:spPr>
          </c:dPt>
          <c:cat>
            <c:multiLvlStrRef>
              <c:f>Sheet1!$A$2:$A$7</c:f>
              <c:multiLvlStrCache>
                <c:ptCount val="6"/>
                <c:lvl>
                  <c:pt idx="0">
                    <c:v>window</c:v>
                  </c:pt>
                  <c:pt idx="1">
                    <c:v>compact</c:v>
                  </c:pt>
                  <c:pt idx="2">
                    <c:v>oven style</c:v>
                  </c:pt>
                  <c:pt idx="3">
                    <c:v>avg rating</c:v>
                  </c:pt>
                  <c:pt idx="4">
                    <c:v>rotisserie</c:v>
                  </c:pt>
                  <c:pt idx="5">
                    <c:v>dual basket</c:v>
                  </c:pt>
                </c:lvl>
              </c:multiLvlStrCache>
            </c:multiLvlStrRef>
          </c:cat>
          <c:val>
            <c:numRef>
              <c:f>Sheet1!$B$2:$B$7</c:f>
              <c:numCache>
                <c:formatCode>General</c:formatCode>
                <c:ptCount val="6"/>
                <c:pt idx="0">
                  <c:v>12.88</c:v>
                </c:pt>
                <c:pt idx="1">
                  <c:v>9.82</c:v>
                </c:pt>
                <c:pt idx="2">
                  <c:v>1.94</c:v>
                </c:pt>
                <c:pt idx="3">
                  <c:v>0.29</c:v>
                </c:pt>
                <c:pt idx="4">
                  <c:v>-5.67</c:v>
                </c:pt>
                <c:pt idx="5">
                  <c:v>-9.51</c:v>
                </c:pt>
              </c:numCache>
            </c:numRef>
          </c:val>
        </c:ser>
        <c:dLbls>
          <c:numFmt formatCode="#,##0" sourceLinked="0"/>
          <c:txPr>
            <a:bodyPr/>
            <a:lstStyle/>
            <a:p>
              <a:pPr>
                <a:defRPr b="0" i="0" strike="noStrike" sz="800" u="none">
                  <a:solidFill>
                    <a:srgbClr val="2C3E5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C3E50"/>
                </a:solidFill>
                <a:latin typeface="Arial"/>
              </a:defRPr>
            </a:pPr>
            <a:r>
              <a:rPr sz="1100" b="0" i="0" u="none" strike="noStrike">
                <a:solidFill>
                  <a:srgbClr val="2C3E50"/>
                </a:solidFill>
                <a:latin typeface="Arial"/>
              </a:rPr>
              <a:t>Share-Weighted Profit by Brand</a:t>
            </a:r>
          </a:p>
        </c:rich>
      </c:tx>
      <c:layout/>
      <c:overlay val="0"/>
    </c:title>
    <c:autoTitleDeleted val="0"/>
    <c:plotArea>
      <c:layout/>
      <c:barChart>
        <c:barDir val="bar"/>
        <c:grouping val="clustered"/>
        <c:varyColors val="0"/>
        <c:ser>
          <c:idx val="0"/>
          <c:order val="0"/>
          <c:tx>
            <c:strRef>
              <c:f>Sheet1!$B$1</c:f>
              <c:strCache>
                <c:ptCount val="1"/>
                <c:pt idx="0">
                  <c:v>Avg Profit (share × markup)</c:v>
                </c:pt>
              </c:strCache>
            </c:strRef>
          </c:tx>
          <c:spPr>
            <a:solidFill>
              <a:srgbClr val="4A90D9"/>
            </a:solidFill>
            <a:effectLst/>
          </c:spPr>
          <c:invertIfNegative val="0"/>
          <c:dLbls>
            <c:numFmt formatCode="#,##0" sourceLinked="0"/>
            <c:txPr>
              <a:bodyPr/>
              <a:lstStyle/>
              <a:p>
                <a:pPr>
                  <a:defRPr b="0" i="0" strike="noStrike" sz="800" u="none">
                    <a:solidFill>
                      <a:srgbClr val="2C3E50"/>
                    </a:solidFill>
                    <a:latin typeface="Arial"/>
                  </a:defRPr>
                </a:pPr>
              </a:p>
            </c:txPr>
            <c:showLegendKey val="0"/>
            <c:showVal val="1"/>
            <c:showCatName val="0"/>
            <c:showSerName val="0"/>
            <c:showPercent val="0"/>
            <c:showBubbleSize val="0"/>
            <c:showLeaderLines val="0"/>
          </c:dLbls>
          <c:dPt>
            <c:idx val="0"/>
            <c:invertIfNegative val="0"/>
            <c:bubble3D val="0"/>
            <c:spPr>
              <a:solidFill>
                <a:srgbClr val="4A90D9"/>
              </a:solidFill>
              <a:effectLst/>
            </c:spPr>
          </c:dPt>
          <c:dPt>
            <c:idx val="1"/>
            <c:invertIfNegative val="0"/>
            <c:bubble3D val="0"/>
            <c:spPr>
              <a:solidFill>
                <a:srgbClr val="4A90D9"/>
              </a:solidFill>
              <a:effectLst/>
            </c:spPr>
          </c:dPt>
          <c:dPt>
            <c:idx val="2"/>
            <c:invertIfNegative val="0"/>
            <c:bubble3D val="0"/>
            <c:spPr>
              <a:solidFill>
                <a:srgbClr val="4A90D9"/>
              </a:solidFill>
              <a:effectLst/>
            </c:spPr>
          </c:dPt>
          <c:dPt>
            <c:idx val="3"/>
            <c:invertIfNegative val="0"/>
            <c:bubble3D val="0"/>
            <c:spPr>
              <a:solidFill>
                <a:srgbClr val="4A90D9"/>
              </a:solidFill>
              <a:effectLst/>
            </c:spPr>
          </c:dPt>
          <c:dPt>
            <c:idx val="4"/>
            <c:invertIfNegative val="0"/>
            <c:bubble3D val="0"/>
            <c:spPr>
              <a:solidFill>
                <a:srgbClr val="4A90D9"/>
              </a:solidFill>
              <a:effectLst/>
            </c:spPr>
          </c:dPt>
          <c:dPt>
            <c:idx val="5"/>
            <c:invertIfNegative val="0"/>
            <c:bubble3D val="0"/>
            <c:spPr>
              <a:solidFill>
                <a:srgbClr val="4A90D9"/>
              </a:solidFill>
              <a:effectLst/>
            </c:spPr>
          </c:dPt>
          <c:dPt>
            <c:idx val="6"/>
            <c:invertIfNegative val="0"/>
            <c:bubble3D val="0"/>
            <c:spPr>
              <a:solidFill>
                <a:srgbClr val="4A90D9"/>
              </a:solidFill>
              <a:effectLst/>
            </c:spPr>
          </c:dPt>
          <c:dPt>
            <c:idx val="7"/>
            <c:invertIfNegative val="0"/>
            <c:bubble3D val="0"/>
            <c:spPr>
              <a:solidFill>
                <a:srgbClr val="F39C12"/>
              </a:solidFill>
              <a:effectLst/>
            </c:spPr>
          </c:dPt>
          <c:dPt>
            <c:idx val="8"/>
            <c:invertIfNegative val="0"/>
            <c:bubble3D val="0"/>
            <c:spPr>
              <a:solidFill>
                <a:srgbClr val="E74C3C"/>
              </a:solidFill>
              <a:effectLst/>
            </c:spPr>
          </c:dPt>
          <c:dPt>
            <c:idx val="9"/>
            <c:invertIfNegative val="0"/>
            <c:bubble3D val="0"/>
            <c:spPr>
              <a:solidFill>
                <a:srgbClr val="1E2761"/>
              </a:solidFill>
              <a:effectLst/>
            </c:spPr>
          </c:dPt>
          <c:cat>
            <c:multiLvlStrRef>
              <c:f>Sheet1!$A$2:$A$11</c:f>
              <c:multiLvlStrCache>
                <c:ptCount val="10"/>
                <c:lvl>
                  <c:pt idx="0">
                    <c:v>oster</c:v>
                  </c:pt>
                  <c:pt idx="1">
                    <c:v>nuwave</c:v>
                  </c:pt>
                  <c:pt idx="2">
                    <c:v>cosori</c:v>
                  </c:pt>
                  <c:pt idx="3">
                    <c:v>cuisinart</c:v>
                  </c:pt>
                  <c:pt idx="4">
                    <c:v>ultrean</c:v>
                  </c:pt>
                  <c:pt idx="5">
                    <c:v>chefman</c:v>
                  </c:pt>
                  <c:pt idx="6">
                    <c:v>dash</c:v>
                  </c:pt>
                  <c:pt idx="7">
                    <c:v>gowise usa</c:v>
                  </c:pt>
                  <c:pt idx="8">
                    <c:v>instant_pot</c:v>
                  </c:pt>
                  <c:pt idx="9">
                    <c:v>ninja</c:v>
                  </c:pt>
                </c:lvl>
              </c:multiLvlStrCache>
            </c:multiLvlStrRef>
          </c:cat>
          <c:val>
            <c:numRef>
              <c:f>Sheet1!$B$2:$B$11</c:f>
              <c:numCache>
                <c:formatCode>General</c:formatCode>
                <c:ptCount val="10"/>
                <c:pt idx="0">
                  <c:v>0.68</c:v>
                </c:pt>
                <c:pt idx="1">
                  <c:v>1.42</c:v>
                </c:pt>
                <c:pt idx="2">
                  <c:v>1.44</c:v>
                </c:pt>
                <c:pt idx="3">
                  <c:v>2.5</c:v>
                </c:pt>
                <c:pt idx="4">
                  <c:v>2.78</c:v>
                </c:pt>
                <c:pt idx="5">
                  <c:v>2.82</c:v>
                </c:pt>
                <c:pt idx="6">
                  <c:v>2.99</c:v>
                </c:pt>
                <c:pt idx="7">
                  <c:v>4.61</c:v>
                </c:pt>
                <c:pt idx="8">
                  <c:v>6.01</c:v>
                </c:pt>
                <c:pt idx="9">
                  <c:v>6.31</c:v>
                </c:pt>
              </c:numCache>
            </c:numRef>
          </c:val>
        </c:ser>
        <c:dLbls>
          <c:numFmt formatCode="#,##0" sourceLinked="0"/>
          <c:txPr>
            <a:bodyPr/>
            <a:lstStyle/>
            <a:p>
              <a:pPr>
                <a:defRPr b="0" i="0" strike="noStrike" sz="800" u="none">
                  <a:solidFill>
                    <a:srgbClr val="2C3E5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C3E5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C3E50"/>
                </a:solidFill>
                <a:latin typeface="Arial"/>
              </a:defRPr>
            </a:pPr>
            <a:r>
              <a:rPr sz="1100" b="0" i="0" u="none" strike="noStrike">
                <a:solidFill>
                  <a:srgbClr val="2C3E50"/>
                </a:solidFill>
                <a:latin typeface="Arial"/>
              </a:rPr>
              <a:t>Feature Prevalence (avg share)</a:t>
            </a:r>
          </a:p>
        </c:rich>
      </c:tx>
      <c:layout/>
      <c:overlay val="0"/>
    </c:title>
    <c:autoTitleDeleted val="0"/>
    <c:plotArea>
      <c:layout/>
      <c:barChart>
        <c:barDir val="bar"/>
        <c:grouping val="clustered"/>
        <c:varyColors val="0"/>
        <c:ser>
          <c:idx val="0"/>
          <c:order val="0"/>
          <c:tx>
            <c:strRef>
              <c:f>Sheet1!$B$1</c:f>
              <c:strCache>
                <c:ptCount val="1"/>
                <c:pt idx="0">
                  <c:v>Mean share across brands</c:v>
                </c:pt>
              </c:strCache>
            </c:strRef>
          </c:tx>
          <c:spPr>
            <a:solidFill>
              <a:srgbClr val="1E2761"/>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CADCFC"/>
              </a:solidFill>
              <a:effectLst/>
            </c:spPr>
          </c:dPt>
          <c:dPt>
            <c:idx val="3"/>
            <c:invertIfNegative val="0"/>
            <c:bubble3D val="0"/>
            <c:spPr>
              <a:solidFill>
                <a:srgbClr val="CADCFC"/>
              </a:solidFill>
              <a:effectLst/>
            </c:spPr>
          </c:dPt>
          <c:dPt>
            <c:idx val="4"/>
            <c:invertIfNegative val="0"/>
            <c:bubble3D val="0"/>
            <c:spPr>
              <a:solidFill>
                <a:srgbClr val="CADCFC"/>
              </a:solidFill>
              <a:effectLst/>
            </c:spPr>
          </c:dPt>
          <c:cat>
            <c:multiLvlStrRef>
              <c:f>Sheet1!$A$2:$A$6</c:f>
              <c:multiLvlStrCache>
                <c:ptCount val="5"/>
                <c:lvl>
                  <c:pt idx="0">
                    <c:v>Compact</c:v>
                  </c:pt>
                  <c:pt idx="1">
                    <c:v>Oven-Style</c:v>
                  </c:pt>
                  <c:pt idx="2">
                    <c:v>Rotisserie</c:v>
                  </c:pt>
                  <c:pt idx="3">
                    <c:v>Window</c:v>
                  </c:pt>
                  <c:pt idx="4">
                    <c:v>Dual-Basket</c:v>
                  </c:pt>
                </c:lvl>
              </c:multiLvlStrCache>
            </c:multiLvlStrRef>
          </c:cat>
          <c:val>
            <c:numRef>
              <c:f>Sheet1!$B$2:$B$6</c:f>
              <c:numCache>
                <c:formatCode>General</c:formatCode>
                <c:ptCount val="5"/>
                <c:pt idx="0">
                  <c:v>0.98</c:v>
                </c:pt>
                <c:pt idx="1">
                  <c:v>0.563</c:v>
                </c:pt>
                <c:pt idx="2">
                  <c:v>0.071</c:v>
                </c:pt>
                <c:pt idx="3">
                  <c:v>0.037</c:v>
                </c:pt>
                <c:pt idx="4">
                  <c:v>0.002</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C3E5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548640"/>
            <a:ext cx="2743200" cy="2743200"/>
          </a:xfrm>
          <a:prstGeom prst="ellipse">
            <a:avLst/>
          </a:prstGeom>
          <a:solidFill>
            <a:srgbClr val="2A3A7A">
              <a:alpha val="70000"/>
            </a:srgbClr>
          </a:solidFill>
          <a:ln w="12700">
            <a:solidFill>
              <a:srgbClr val="2A3A7A"/>
            </a:solidFill>
            <a:prstDash val="solid"/>
          </a:ln>
        </p:spPr>
      </p:sp>
      <p:sp>
        <p:nvSpPr>
          <p:cNvPr id="3" name="Shape 1"/>
          <p:cNvSpPr/>
          <p:nvPr/>
        </p:nvSpPr>
        <p:spPr>
          <a:xfrm>
            <a:off x="7589520" y="3200400"/>
            <a:ext cx="2286000" cy="2286000"/>
          </a:xfrm>
          <a:prstGeom prst="ellipse">
            <a:avLst/>
          </a:prstGeom>
          <a:solidFill>
            <a:srgbClr val="2A3A7A">
              <a:alpha val="70000"/>
            </a:srgbClr>
          </a:solidFill>
          <a:ln w="12700">
            <a:solidFill>
              <a:srgbClr val="2A3A7A"/>
            </a:solidFill>
            <a:prstDash val="solid"/>
          </a:ln>
        </p:spPr>
      </p:sp>
      <p:sp>
        <p:nvSpPr>
          <p:cNvPr id="4" name="Text 2"/>
          <p:cNvSpPr/>
          <p:nvPr/>
        </p:nvSpPr>
        <p:spPr>
          <a:xfrm>
            <a:off x="548640" y="1005840"/>
            <a:ext cx="8046720" cy="685800"/>
          </a:xfrm>
          <a:prstGeom prst="rect">
            <a:avLst/>
          </a:prstGeom>
          <a:noFill/>
          <a:ln/>
        </p:spPr>
        <p:txBody>
          <a:bodyPr wrap="square" rtlCol="0" anchor="ctr"/>
          <a:lstStyle/>
          <a:p>
            <a:pPr algn="ctr" indent="0" marL="0">
              <a:buNone/>
            </a:pPr>
            <a:r>
              <a:rPr lang="en-US" sz="1400" b="1" spc="800" kern="0" dirty="0">
                <a:solidFill>
                  <a:srgbClr val="CADCFC"/>
                </a:solidFill>
                <a:latin typeface="Calibri" pitchFamily="34" charset="0"/>
                <a:ea typeface="Calibri" pitchFamily="34" charset="-122"/>
                <a:cs typeface="Calibri" pitchFamily="34" charset="-120"/>
              </a:rPr>
              <a:t>AIR FRYER MARKET</a:t>
            </a:r>
            <a:endParaRPr lang="en-US" sz="1400" dirty="0"/>
          </a:p>
        </p:txBody>
      </p:sp>
      <p:sp>
        <p:nvSpPr>
          <p:cNvPr id="5" name="Text 3"/>
          <p:cNvSpPr/>
          <p:nvPr/>
        </p:nvSpPr>
        <p:spPr>
          <a:xfrm>
            <a:off x="548640" y="1645920"/>
            <a:ext cx="8046720" cy="109728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Market Intelligence Report</a:t>
            </a:r>
            <a:endParaRPr lang="en-US" sz="4000" dirty="0"/>
          </a:p>
        </p:txBody>
      </p:sp>
      <p:sp>
        <p:nvSpPr>
          <p:cNvPr id="6" name="Text 4"/>
          <p:cNvSpPr/>
          <p:nvPr/>
        </p:nvSpPr>
        <p:spPr>
          <a:xfrm>
            <a:off x="548640" y="2880360"/>
            <a:ext cx="8046720" cy="45720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10 Brands  ·  2019–2023  ·  Amazon Purchase Data</a:t>
            </a:r>
            <a:endParaRPr lang="en-US" sz="1600" dirty="0"/>
          </a:p>
        </p:txBody>
      </p:sp>
      <p:sp>
        <p:nvSpPr>
          <p:cNvPr id="7" name="Shape 5"/>
          <p:cNvSpPr/>
          <p:nvPr/>
        </p:nvSpPr>
        <p:spPr>
          <a:xfrm>
            <a:off x="3474720" y="3429000"/>
            <a:ext cx="2194560" cy="50292"/>
          </a:xfrm>
          <a:prstGeom prst="rect">
            <a:avLst/>
          </a:prstGeom>
          <a:solidFill>
            <a:srgbClr val="4A90D9"/>
          </a:solidFill>
          <a:ln w="12700">
            <a:solidFill>
              <a:srgbClr val="4A90D9"/>
            </a:solidFill>
            <a:prstDash val="solid"/>
          </a:ln>
        </p:spPr>
      </p:sp>
      <p:sp>
        <p:nvSpPr>
          <p:cNvPr id="8" name="Text 6"/>
          <p:cNvSpPr/>
          <p:nvPr/>
        </p:nvSpPr>
        <p:spPr>
          <a:xfrm>
            <a:off x="548640" y="4389120"/>
            <a:ext cx="8046720" cy="365760"/>
          </a:xfrm>
          <a:prstGeom prst="rect">
            <a:avLst/>
          </a:prstGeom>
          <a:noFill/>
          <a:ln/>
        </p:spPr>
        <p:txBody>
          <a:bodyPr wrap="square" rtlCol="0" anchor="ctr"/>
          <a:lstStyle/>
          <a:p>
            <a:pPr algn="ctr" indent="0" marL="0">
              <a:buNone/>
            </a:pPr>
            <a:r>
              <a:rPr lang="en-US" sz="1200" dirty="0">
                <a:solidFill>
                  <a:srgbClr val="8899BB"/>
                </a:solidFill>
                <a:latin typeface="Calibri" pitchFamily="34" charset="0"/>
                <a:ea typeface="Calibri" pitchFamily="34" charset="-122"/>
                <a:cs typeface="Calibri" pitchFamily="34" charset="-120"/>
              </a:rPr>
              <a:t>Business Audience Presentation  |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Market Overview</a:t>
            </a:r>
            <a:endParaRPr lang="en-US" sz="2600" dirty="0"/>
          </a:p>
        </p:txBody>
      </p:sp>
      <p:sp>
        <p:nvSpPr>
          <p:cNvPr id="3" name="Shape 1"/>
          <p:cNvSpPr/>
          <p:nvPr/>
        </p:nvSpPr>
        <p:spPr>
          <a:xfrm>
            <a:off x="457200" y="868680"/>
            <a:ext cx="8229600" cy="22860"/>
          </a:xfrm>
          <a:prstGeom prst="rect">
            <a:avLst/>
          </a:prstGeom>
          <a:solidFill>
            <a:srgbClr val="1E2761"/>
          </a:solidFill>
          <a:ln w="12700">
            <a:solidFill>
              <a:srgbClr val="1E2761"/>
            </a:solidFill>
            <a:prstDash val="solid"/>
          </a:ln>
        </p:spPr>
      </p:sp>
      <p:sp>
        <p:nvSpPr>
          <p:cNvPr id="4" name="Text 2"/>
          <p:cNvSpPr/>
          <p:nvPr/>
        </p:nvSpPr>
        <p:spPr>
          <a:xfrm>
            <a:off x="457200" y="1005840"/>
            <a:ext cx="5029200" cy="3749040"/>
          </a:xfrm>
          <a:prstGeom prst="rect">
            <a:avLst/>
          </a:prstGeom>
          <a:noFill/>
          <a:ln/>
        </p:spPr>
        <p:txBody>
          <a:bodyPr wrap="square" rtlCol="0" anchor="t"/>
          <a:lstStyle/>
          <a:p>
            <a:pPr indent="0" marL="0">
              <a:buNone/>
            </a:pPr>
            <a:r>
              <a:rPr lang="en-US" sz="1500" b="1" dirty="0">
                <a:solidFill>
                  <a:srgbClr val="1E2761"/>
                </a:solidFill>
              </a:rPr>
              <a:t>A Fast-Growing, Competitive Consumer Market
</a:t>
            </a:r>
            <a:pPr indent="0" marL="0">
              <a:buNone/>
            </a:pPr>
            <a:r>
              <a:rPr lang="en-US" sz="1300" dirty="0">
                <a:solidFill>
                  <a:srgbClr val="2C3E50"/>
                </a:solidFill>
              </a:rPr>
              <a:t>The U.S. air fryer market on Amazon spans 10 major brands across five years (2019–2023). The market is characterized by intense price competition, strong brand differentiation, and rapid share shifts driven by product innovation and consumer ratings.
</a:t>
            </a:r>
            <a:pPr indent="0" marL="0">
              <a:buNone/>
            </a:pPr>
            <a:r>
              <a:rPr lang="en-US" sz="1300" b="1" dirty="0">
                <a:solidFill>
                  <a:srgbClr val="1E2761"/>
                </a:solidFill>
              </a:rPr>
              <a:t>Key product types: </a:t>
            </a:r>
            <a:pPr indent="0" marL="0">
              <a:buNone/>
            </a:pPr>
            <a:r>
              <a:rPr lang="en-US" sz="1300" dirty="0">
                <a:solidFill>
                  <a:srgbClr val="2C3E50"/>
                </a:solidFill>
              </a:rPr>
              <a:t>Compact (98% share), Oven-style (56%), Rotisserie (7%), Window (4%), Dual-basket (&lt; 1%)
</a:t>
            </a:r>
            <a:pPr indent="0" marL="0">
              <a:buNone/>
            </a:pPr>
            <a:r>
              <a:rPr lang="en-US" sz="1300" b="1" dirty="0">
                <a:solidFill>
                  <a:srgbClr val="1E2761"/>
                </a:solidFill>
              </a:rPr>
              <a:t>Price range: </a:t>
            </a:r>
            <a:pPr indent="0" marL="0">
              <a:buNone/>
            </a:pPr>
            <a:r>
              <a:rPr lang="en-US" sz="1300" dirty="0">
                <a:solidFill>
                  <a:srgbClr val="2C3E50"/>
                </a:solidFill>
              </a:rPr>
              <a:t>$55 (Dash) to $229 (Cuisinart). Ratings are tightly clustered between 4.3–4.8/5.</a:t>
            </a:r>
            <a:endParaRPr lang="en-US" sz="1500" dirty="0"/>
          </a:p>
        </p:txBody>
      </p:sp>
      <p:sp>
        <p:nvSpPr>
          <p:cNvPr id="5" name="Shape 3"/>
          <p:cNvSpPr/>
          <p:nvPr/>
        </p:nvSpPr>
        <p:spPr>
          <a:xfrm>
            <a:off x="5760720" y="1005840"/>
            <a:ext cx="1600200" cy="1097280"/>
          </a:xfrm>
          <a:prstGeom prst="rect">
            <a:avLst/>
          </a:prstGeom>
          <a:solidFill>
            <a:srgbClr val="1E2761"/>
          </a:solidFill>
          <a:ln/>
          <a:effectLst>
            <a:outerShdw sx="100000" sy="100000" kx="0" ky="0" algn="bl" rotWithShape="0" blurRad="101600" dist="25400" dir="8100000">
              <a:srgbClr val="000000">
                <a:alpha val="12000"/>
              </a:srgbClr>
            </a:outerShdw>
          </a:effectLst>
        </p:spPr>
      </p:sp>
      <p:sp>
        <p:nvSpPr>
          <p:cNvPr id="6" name="Text 4"/>
          <p:cNvSpPr/>
          <p:nvPr/>
        </p:nvSpPr>
        <p:spPr>
          <a:xfrm>
            <a:off x="5760720" y="1143000"/>
            <a:ext cx="1600200" cy="603504"/>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10</a:t>
            </a:r>
            <a:endParaRPr lang="en-US" sz="3200" dirty="0"/>
          </a:p>
        </p:txBody>
      </p:sp>
      <p:sp>
        <p:nvSpPr>
          <p:cNvPr id="7" name="Text 5"/>
          <p:cNvSpPr/>
          <p:nvPr/>
        </p:nvSpPr>
        <p:spPr>
          <a:xfrm>
            <a:off x="5760720" y="1642262"/>
            <a:ext cx="1600200" cy="416966"/>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Brands Tracked</a:t>
            </a:r>
            <a:endParaRPr lang="en-US" sz="1100" dirty="0"/>
          </a:p>
        </p:txBody>
      </p:sp>
      <p:sp>
        <p:nvSpPr>
          <p:cNvPr id="8" name="Shape 6"/>
          <p:cNvSpPr/>
          <p:nvPr/>
        </p:nvSpPr>
        <p:spPr>
          <a:xfrm>
            <a:off x="7498080" y="1005840"/>
            <a:ext cx="1371600" cy="1097280"/>
          </a:xfrm>
          <a:prstGeom prst="rect">
            <a:avLst/>
          </a:prstGeom>
          <a:solidFill>
            <a:srgbClr val="4A90D9"/>
          </a:solidFill>
          <a:ln/>
          <a:effectLst>
            <a:outerShdw sx="100000" sy="100000" kx="0" ky="0" algn="bl" rotWithShape="0" blurRad="101600" dist="25400" dir="8100000">
              <a:srgbClr val="000000">
                <a:alpha val="12000"/>
              </a:srgbClr>
            </a:outerShdw>
          </a:effectLst>
        </p:spPr>
      </p:sp>
      <p:sp>
        <p:nvSpPr>
          <p:cNvPr id="9" name="Text 7"/>
          <p:cNvSpPr/>
          <p:nvPr/>
        </p:nvSpPr>
        <p:spPr>
          <a:xfrm>
            <a:off x="7498080" y="1143000"/>
            <a:ext cx="1371600" cy="603504"/>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5 yrs</a:t>
            </a:r>
            <a:endParaRPr lang="en-US" sz="3200" dirty="0"/>
          </a:p>
        </p:txBody>
      </p:sp>
      <p:sp>
        <p:nvSpPr>
          <p:cNvPr id="10" name="Text 8"/>
          <p:cNvSpPr/>
          <p:nvPr/>
        </p:nvSpPr>
        <p:spPr>
          <a:xfrm>
            <a:off x="7498080" y="1642262"/>
            <a:ext cx="1371600" cy="416966"/>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2019–2023</a:t>
            </a:r>
            <a:endParaRPr lang="en-US" sz="1100" dirty="0"/>
          </a:p>
        </p:txBody>
      </p:sp>
      <p:sp>
        <p:nvSpPr>
          <p:cNvPr id="11" name="Shape 9"/>
          <p:cNvSpPr/>
          <p:nvPr/>
        </p:nvSpPr>
        <p:spPr>
          <a:xfrm>
            <a:off x="5760720" y="2240280"/>
            <a:ext cx="1600200" cy="1097280"/>
          </a:xfrm>
          <a:prstGeom prst="rect">
            <a:avLst/>
          </a:prstGeom>
          <a:solidFill>
            <a:srgbClr val="2C5F2D"/>
          </a:solidFill>
          <a:ln/>
          <a:effectLst>
            <a:outerShdw sx="100000" sy="100000" kx="0" ky="0" algn="bl" rotWithShape="0" blurRad="101600" dist="25400" dir="8100000">
              <a:srgbClr val="000000">
                <a:alpha val="12000"/>
              </a:srgbClr>
            </a:outerShdw>
          </a:effectLst>
        </p:spPr>
      </p:sp>
      <p:sp>
        <p:nvSpPr>
          <p:cNvPr id="12" name="Text 10"/>
          <p:cNvSpPr/>
          <p:nvPr/>
        </p:nvSpPr>
        <p:spPr>
          <a:xfrm>
            <a:off x="5760720" y="2377440"/>
            <a:ext cx="1600200" cy="603504"/>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76%</a:t>
            </a:r>
            <a:endParaRPr lang="en-US" sz="3200" dirty="0"/>
          </a:p>
        </p:txBody>
      </p:sp>
      <p:sp>
        <p:nvSpPr>
          <p:cNvPr id="13" name="Text 11"/>
          <p:cNvSpPr/>
          <p:nvPr/>
        </p:nvSpPr>
        <p:spPr>
          <a:xfrm>
            <a:off x="5760720" y="2876702"/>
            <a:ext cx="1600200" cy="416966"/>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Model R²</a:t>
            </a:r>
            <a:endParaRPr lang="en-US" sz="1100" dirty="0"/>
          </a:p>
        </p:txBody>
      </p:sp>
      <p:sp>
        <p:nvSpPr>
          <p:cNvPr id="14" name="Shape 12"/>
          <p:cNvSpPr/>
          <p:nvPr/>
        </p:nvSpPr>
        <p:spPr>
          <a:xfrm>
            <a:off x="7498080" y="2240280"/>
            <a:ext cx="1371600" cy="1097280"/>
          </a:xfrm>
          <a:prstGeom prst="rect">
            <a:avLst/>
          </a:prstGeom>
          <a:solidFill>
            <a:srgbClr val="6D2E46"/>
          </a:solidFill>
          <a:ln/>
          <a:effectLst>
            <a:outerShdw sx="100000" sy="100000" kx="0" ky="0" algn="bl" rotWithShape="0" blurRad="101600" dist="25400" dir="8100000">
              <a:srgbClr val="000000">
                <a:alpha val="12000"/>
              </a:srgbClr>
            </a:outerShdw>
          </a:effectLst>
        </p:spPr>
      </p:sp>
      <p:sp>
        <p:nvSpPr>
          <p:cNvPr id="15" name="Text 13"/>
          <p:cNvSpPr/>
          <p:nvPr/>
        </p:nvSpPr>
        <p:spPr>
          <a:xfrm>
            <a:off x="7498080" y="2377440"/>
            <a:ext cx="1371600" cy="603504"/>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$55–$229</a:t>
            </a:r>
            <a:endParaRPr lang="en-US" sz="3200" dirty="0"/>
          </a:p>
        </p:txBody>
      </p:sp>
      <p:sp>
        <p:nvSpPr>
          <p:cNvPr id="16" name="Text 14"/>
          <p:cNvSpPr/>
          <p:nvPr/>
        </p:nvSpPr>
        <p:spPr>
          <a:xfrm>
            <a:off x="7498080" y="2876702"/>
            <a:ext cx="1371600" cy="416966"/>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Price Range</a:t>
            </a:r>
            <a:endParaRPr lang="en-US" sz="1100" dirty="0"/>
          </a:p>
        </p:txBody>
      </p:sp>
      <p:sp>
        <p:nvSpPr>
          <p:cNvPr id="17" name="Text 15"/>
          <p:cNvSpPr/>
          <p:nvPr/>
        </p:nvSpPr>
        <p:spPr>
          <a:xfrm>
            <a:off x="457200" y="4663440"/>
            <a:ext cx="82296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Data source: Amazon purchase records aggregated at brand-year level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Prices, Ratings &amp; Market Share Over Time</a:t>
            </a:r>
            <a:endParaRPr lang="en-US" sz="2600" dirty="0"/>
          </a:p>
        </p:txBody>
      </p:sp>
      <p:sp>
        <p:nvSpPr>
          <p:cNvPr id="3" name="Shape 1"/>
          <p:cNvSpPr/>
          <p:nvPr/>
        </p:nvSpPr>
        <p:spPr>
          <a:xfrm>
            <a:off x="457200" y="868680"/>
            <a:ext cx="8229600" cy="2286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960120"/>
          <a:ext cx="384048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89120" y="960120"/>
          <a:ext cx="4389120" cy="20116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365760" y="3108960"/>
            <a:ext cx="8412480" cy="1737360"/>
          </a:xfrm>
          <a:prstGeom prst="rect">
            <a:avLst/>
          </a:prstGeom>
          <a:noFill/>
          <a:ln/>
        </p:spPr>
        <p:txBody>
          <a:bodyPr wrap="square" rtlCol="0" anchor="t"/>
          <a:lstStyle/>
          <a:p>
            <a:pPr indent="0" marL="0">
              <a:buNone/>
            </a:pPr>
            <a:r>
              <a:rPr lang="en-US" sz="1300" b="1" dirty="0">
                <a:solidFill>
                  <a:srgbClr val="1E2761"/>
                </a:solidFill>
              </a:rPr>
              <a:t>Key Findings
</a:t>
            </a:r>
            <a:endParaRPr lang="en-US" sz="1300" dirty="0"/>
          </a:p>
          <a:p>
            <a:pPr indent="0" marL="0">
              <a:buNone/>
            </a:pPr>
            <a:r>
              <a:rPr lang="en-US" sz="1200" b="1" dirty="0">
                <a:solidFill>
                  <a:srgbClr val="2C3E50"/>
                </a:solidFill>
              </a:rPr>
              <a:t>Cuisinart</a:t>
            </a:r>
            <a:pPr indent="0" marL="0">
              <a:buNone/>
            </a:pPr>
            <a:r>
              <a:rPr lang="en-US" sz="1200" dirty="0">
                <a:solidFill>
                  <a:srgbClr val="2C3E50"/>
                </a:solidFill>
              </a:rPr>
              <a:t> holds the highest price point (~$225) but low ratings (&lt;4.5/5)
</a:t>
            </a:r>
            <a:endParaRPr lang="en-US" sz="1300" dirty="0"/>
          </a:p>
          <a:p>
            <a:pPr indent="0" marL="0">
              <a:buNone/>
            </a:pPr>
            <a:r>
              <a:rPr lang="en-US" sz="1200" b="1" dirty="0">
                <a:solidFill>
                  <a:srgbClr val="2C3E50"/>
                </a:solidFill>
              </a:rPr>
              <a:t>Gowise USA</a:t>
            </a:r>
            <a:pPr indent="0" marL="0">
              <a:buNone/>
            </a:pPr>
            <a:r>
              <a:rPr lang="en-US" sz="1200" dirty="0">
                <a:solidFill>
                  <a:srgbClr val="2C3E50"/>
                </a:solidFill>
              </a:rPr>
              <a:t> dominated in 2019 (30% share) then collapsed to ~5% by 2023
</a:t>
            </a:r>
            <a:endParaRPr lang="en-US" sz="1300" dirty="0"/>
          </a:p>
          <a:p>
            <a:pPr indent="0" marL="0">
              <a:buNone/>
            </a:pPr>
            <a:r>
              <a:rPr lang="en-US" sz="1200" b="1" dirty="0">
                <a:solidFill>
                  <a:srgbClr val="2C3E50"/>
                </a:solidFill>
              </a:rPr>
              <a:t>Instant Pot</a:t>
            </a:r>
            <a:pPr indent="0" marL="0">
              <a:buNone/>
            </a:pPr>
            <a:r>
              <a:rPr lang="en-US" sz="1200" dirty="0">
                <a:solidFill>
                  <a:srgbClr val="2C3E50"/>
                </a:solidFill>
              </a:rPr>
              <a:t> rose from near-zero to market leader (~26–28%) by 2022–23
</a:t>
            </a:r>
            <a:endParaRPr lang="en-US" sz="1300" dirty="0"/>
          </a:p>
          <a:p>
            <a:pPr indent="0" marL="0">
              <a:buNone/>
            </a:pPr>
            <a:r>
              <a:rPr lang="en-US" sz="1200" b="1" dirty="0">
                <a:solidFill>
                  <a:srgbClr val="2C3E50"/>
                </a:solidFill>
              </a:rPr>
              <a:t>Ninja</a:t>
            </a:r>
            <a:pPr indent="0" marL="0">
              <a:buNone/>
            </a:pPr>
            <a:r>
              <a:rPr lang="en-US" sz="1200" dirty="0">
                <a:solidFill>
                  <a:srgbClr val="2C3E50"/>
                </a:solidFill>
              </a:rPr>
              <a:t> leads ratings (~4.75/5) despite mid-tier pricing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Demand Model: Multinomial Logit Regression</a:t>
            </a:r>
            <a:endParaRPr lang="en-US" sz="2600" dirty="0"/>
          </a:p>
        </p:txBody>
      </p:sp>
      <p:sp>
        <p:nvSpPr>
          <p:cNvPr id="3" name="Shape 1"/>
          <p:cNvSpPr/>
          <p:nvPr/>
        </p:nvSpPr>
        <p:spPr>
          <a:xfrm>
            <a:off x="457200" y="868680"/>
            <a:ext cx="8229600" cy="22860"/>
          </a:xfrm>
          <a:prstGeom prst="rect">
            <a:avLst/>
          </a:prstGeom>
          <a:solidFill>
            <a:srgbClr val="1E2761"/>
          </a:solidFill>
          <a:ln w="12700">
            <a:solidFill>
              <a:srgbClr val="1E2761"/>
            </a:solidFill>
            <a:prstDash val="solid"/>
          </a:ln>
        </p:spPr>
      </p:sp>
      <p:sp>
        <p:nvSpPr>
          <p:cNvPr id="4" name="Text 2"/>
          <p:cNvSpPr/>
          <p:nvPr/>
        </p:nvSpPr>
        <p:spPr>
          <a:xfrm>
            <a:off x="457200" y="1005840"/>
            <a:ext cx="4572000" cy="3840480"/>
          </a:xfrm>
          <a:prstGeom prst="rect">
            <a:avLst/>
          </a:prstGeom>
          <a:noFill/>
          <a:ln/>
        </p:spPr>
        <p:txBody>
          <a:bodyPr wrap="square" rtlCol="0" anchor="t"/>
          <a:lstStyle/>
          <a:p>
            <a:pPr indent="0" marL="0">
              <a:buNone/>
            </a:pPr>
            <a:r>
              <a:rPr lang="en-US" sz="1400" b="1" dirty="0">
                <a:solidFill>
                  <a:srgbClr val="1E2761"/>
                </a:solidFill>
              </a:rPr>
              <a:t>What We Estimated
</a:t>
            </a:r>
            <a:endParaRPr lang="en-US" sz="1400" dirty="0"/>
          </a:p>
          <a:p>
            <a:pPr indent="0" marL="0">
              <a:buNone/>
            </a:pPr>
            <a:r>
              <a:rPr lang="en-US" sz="1200" dirty="0">
                <a:solidFill>
                  <a:srgbClr val="2C3E50"/>
                </a:solidFill>
              </a:rPr>
              <a:t>We model how consumers choose among air fryer brands using a logit demand framework — the industry-standard approach for differentiated consumer goods.
</a:t>
            </a:r>
            <a:endParaRPr lang="en-US" sz="1400" dirty="0"/>
          </a:p>
          <a:p>
            <a:pPr indent="0" marL="0">
              <a:buNone/>
            </a:pPr>
            <a:r>
              <a:rPr lang="en-US" sz="1200" b="1" dirty="0">
                <a:solidFill>
                  <a:srgbClr val="1E2761"/>
                </a:solidFill>
              </a:rPr>
              <a:t>Specification: </a:t>
            </a:r>
            <a:pPr indent="0" marL="0">
              <a:buNone/>
            </a:pPr>
            <a:r>
              <a:rPr lang="en-US" sz="1200" dirty="0">
                <a:solidFill>
                  <a:srgbClr val="2C3E50"/>
                </a:solidFill>
              </a:rPr>
              <a:t>Linear regression on log(brand market share) with brand &amp; year fixed effects. One shared price coefficient across all brands.
</a:t>
            </a:r>
            <a:endParaRPr lang="en-US" sz="1400" dirty="0"/>
          </a:p>
          <a:p>
            <a:pPr indent="0" marL="0">
              <a:buNone/>
            </a:pPr>
            <a:r>
              <a:rPr lang="en-US" sz="1200" b="1" dirty="0">
                <a:solidFill>
                  <a:srgbClr val="1E2761"/>
                </a:solidFill>
              </a:rPr>
              <a:t>Inputs: </a:t>
            </a:r>
            <a:pPr indent="0" marL="0">
              <a:buNone/>
            </a:pPr>
            <a:r>
              <a:rPr lang="en-US" sz="1200" dirty="0">
                <a:solidFill>
                  <a:srgbClr val="2C3E50"/>
                </a:solidFill>
              </a:rPr>
              <a:t>avg_price, avg_rating, product feature shares (compact, oven-style, dual-basket, rotisserie, window), brand dummies, year dummies
</a:t>
            </a:r>
            <a:endParaRPr lang="en-US" sz="1400" dirty="0"/>
          </a:p>
          <a:p>
            <a:pPr indent="0" marL="0">
              <a:buNone/>
            </a:pPr>
            <a:r>
              <a:rPr lang="en-US" sz="1200" dirty="0">
                <a:solidFill>
                  <a:srgbClr val="2C3E50"/>
                </a:solidFill>
              </a:rPr>
              <a:t>Model fit: R² = 0.7635 — explains ~76% of variation in log market share across 50 brand-year observations.</a:t>
            </a:r>
            <a:endParaRPr lang="en-US" sz="1400" dirty="0"/>
          </a:p>
        </p:txBody>
      </p:sp>
      <p:graphicFrame>
        <p:nvGraphicFramePr>
          <p:cNvPr id="5" name="Chart 0" descr=""/>
          <p:cNvGraphicFramePr/>
          <p:nvPr/>
        </p:nvGraphicFramePr>
        <p:xfrm>
          <a:off x="4937760" y="960120"/>
          <a:ext cx="393192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937760" y="4251960"/>
            <a:ext cx="3931920" cy="320040"/>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Blue = demand-increasing  |  Red = demand-decreasing (concentrated in lower-share niche brands)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Price Coefficient &amp; What Its Sign Tells Us</a:t>
            </a:r>
            <a:endParaRPr lang="en-US" sz="2600" dirty="0"/>
          </a:p>
        </p:txBody>
      </p:sp>
      <p:sp>
        <p:nvSpPr>
          <p:cNvPr id="3" name="Shape 1"/>
          <p:cNvSpPr/>
          <p:nvPr/>
        </p:nvSpPr>
        <p:spPr>
          <a:xfrm>
            <a:off x="457200" y="868680"/>
            <a:ext cx="8229600" cy="22860"/>
          </a:xfrm>
          <a:prstGeom prst="rect">
            <a:avLst/>
          </a:prstGeom>
          <a:solidFill>
            <a:srgbClr val="1E2761"/>
          </a:solidFill>
          <a:ln w="12700">
            <a:solidFill>
              <a:srgbClr val="1E2761"/>
            </a:solidFill>
            <a:prstDash val="solid"/>
          </a:ln>
        </p:spPr>
      </p:sp>
      <p:sp>
        <p:nvSpPr>
          <p:cNvPr id="4" name="Shape 2"/>
          <p:cNvSpPr/>
          <p:nvPr/>
        </p:nvSpPr>
        <p:spPr>
          <a:xfrm>
            <a:off x="457200" y="1051560"/>
            <a:ext cx="3657600" cy="1828800"/>
          </a:xfrm>
          <a:prstGeom prst="rect">
            <a:avLst/>
          </a:prstGeom>
          <a:solidFill>
            <a:srgbClr val="1E2761"/>
          </a:solidFill>
          <a:ln/>
          <a:effectLst>
            <a:outerShdw sx="100000" sy="100000" kx="0" ky="0" algn="bl" rotWithShape="0" blurRad="127000" dist="38100" dir="8100000">
              <a:srgbClr val="000000">
                <a:alpha val="15000"/>
              </a:srgbClr>
            </a:outerShdw>
          </a:effectLst>
        </p:spPr>
      </p:sp>
      <p:sp>
        <p:nvSpPr>
          <p:cNvPr id="5" name="Text 3"/>
          <p:cNvSpPr/>
          <p:nvPr/>
        </p:nvSpPr>
        <p:spPr>
          <a:xfrm>
            <a:off x="457200" y="1188720"/>
            <a:ext cx="3657600" cy="731520"/>
          </a:xfrm>
          <a:prstGeom prst="rect">
            <a:avLst/>
          </a:prstGeom>
          <a:noFill/>
          <a:ln/>
        </p:spPr>
        <p:txBody>
          <a:bodyPr wrap="square"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β_price  =  –0.0377</a:t>
            </a:r>
            <a:endParaRPr lang="en-US" sz="2600" dirty="0"/>
          </a:p>
        </p:txBody>
      </p:sp>
      <p:sp>
        <p:nvSpPr>
          <p:cNvPr id="6" name="Text 4"/>
          <p:cNvSpPr/>
          <p:nvPr/>
        </p:nvSpPr>
        <p:spPr>
          <a:xfrm>
            <a:off x="457200" y="1920240"/>
            <a:ext cx="3657600" cy="73152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Estimated price coefficient</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(shared across all brands &amp; years)</a:t>
            </a:r>
            <a:endParaRPr lang="en-US" sz="1200" dirty="0"/>
          </a:p>
        </p:txBody>
      </p:sp>
      <p:sp>
        <p:nvSpPr>
          <p:cNvPr id="7" name="Text 5"/>
          <p:cNvSpPr/>
          <p:nvPr/>
        </p:nvSpPr>
        <p:spPr>
          <a:xfrm>
            <a:off x="4389120" y="1005840"/>
            <a:ext cx="4480560" cy="3840480"/>
          </a:xfrm>
          <a:prstGeom prst="rect">
            <a:avLst/>
          </a:prstGeom>
          <a:noFill/>
          <a:ln/>
        </p:spPr>
        <p:txBody>
          <a:bodyPr wrap="square" rtlCol="0" anchor="t"/>
          <a:lstStyle/>
          <a:p>
            <a:pPr indent="0" marL="0">
              <a:buNone/>
            </a:pPr>
            <a:r>
              <a:rPr lang="en-US" sz="1400" b="1" dirty="0">
                <a:solidFill>
                  <a:srgbClr val="1E2761"/>
                </a:solidFill>
              </a:rPr>
              <a:t>Why a Negative Sign Matters
</a:t>
            </a:r>
            <a:endParaRPr lang="en-US" sz="1400" dirty="0"/>
          </a:p>
          <a:p>
            <a:pPr indent="0" marL="0">
              <a:buNone/>
            </a:pPr>
            <a:r>
              <a:rPr lang="en-US" sz="1200" dirty="0">
                <a:solidFill>
                  <a:srgbClr val="2C3E50"/>
                </a:solidFill>
              </a:rPr>
              <a:t>A negative price coefficient confirms the Law of Demand: as a brand raises its price, its market share falls, all else equal.
</a:t>
            </a:r>
            <a:endParaRPr lang="en-US" sz="1400" dirty="0"/>
          </a:p>
          <a:p>
            <a:pPr indent="0" marL="0">
              <a:buNone/>
            </a:pPr>
            <a:r>
              <a:rPr lang="en-US" sz="1200" dirty="0">
                <a:solidFill>
                  <a:srgbClr val="2C3E50"/>
                </a:solidFill>
              </a:rPr>
              <a:t>If the coefficient were positive, the demand model would imply consumers prefer more expensive products — which would make the cost/markup calculations in Part 3 economically meaningless.
</a:t>
            </a:r>
            <a:endParaRPr lang="en-US" sz="1400" dirty="0"/>
          </a:p>
          <a:p>
            <a:pPr indent="0" marL="0">
              <a:buNone/>
            </a:pPr>
            <a:r>
              <a:rPr lang="en-US" sz="1200" b="1" dirty="0">
                <a:solidFill>
                  <a:srgbClr val="1E2761"/>
                </a:solidFill>
              </a:rPr>
              <a:t>Implication: </a:t>
            </a:r>
            <a:pPr indent="0" marL="0">
              <a:buNone/>
            </a:pPr>
            <a:r>
              <a:rPr lang="en-US" sz="1200" dirty="0">
                <a:solidFill>
                  <a:srgbClr val="2C3E50"/>
                </a:solidFill>
              </a:rPr>
              <a:t>A $10 price increase is associated with a ~0.38 point drop in log market share, translating to roughly a 3–4% share loss for an average brand.</a:t>
            </a:r>
            <a:endParaRPr lang="en-US" sz="1400" dirty="0"/>
          </a:p>
        </p:txBody>
      </p:sp>
      <p:sp>
        <p:nvSpPr>
          <p:cNvPr id="8" name="Text 6"/>
          <p:cNvSpPr/>
          <p:nvPr/>
        </p:nvSpPr>
        <p:spPr>
          <a:xfrm>
            <a:off x="457200" y="4480560"/>
            <a:ext cx="8412480" cy="320040"/>
          </a:xfrm>
          <a:prstGeom prst="rect">
            <a:avLst/>
          </a:prstGeom>
          <a:noFill/>
          <a:ln/>
        </p:spPr>
        <p:txBody>
          <a:bodyPr wrap="square" rtlCol="0" anchor="ctr"/>
          <a:lstStyle/>
          <a:p>
            <a:pPr indent="0" marL="0">
              <a:buNone/>
            </a:pPr>
            <a:r>
              <a:rPr lang="en-US" sz="1100" i="1" dirty="0">
                <a:solidFill>
                  <a:srgbClr val="4A90D9"/>
                </a:solidFill>
                <a:latin typeface="Calibri" pitchFamily="34" charset="0"/>
                <a:ea typeface="Calibri" pitchFamily="34" charset="-122"/>
                <a:cs typeface="Calibri" pitchFamily="34" charset="-120"/>
              </a:rPr>
              <a:t>Rating coefficient = +0.29 → higher ratings also meaningfully lift demand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Unit Costs, Markups &amp; Share-Weighted Profits</a:t>
            </a:r>
            <a:endParaRPr lang="en-US" sz="2600" dirty="0"/>
          </a:p>
        </p:txBody>
      </p:sp>
      <p:sp>
        <p:nvSpPr>
          <p:cNvPr id="3" name="Shape 1"/>
          <p:cNvSpPr/>
          <p:nvPr/>
        </p:nvSpPr>
        <p:spPr>
          <a:xfrm>
            <a:off x="457200" y="868680"/>
            <a:ext cx="8229600" cy="2286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960120"/>
          <a:ext cx="411480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663440" y="1005840"/>
            <a:ext cx="4206240" cy="3840480"/>
          </a:xfrm>
          <a:prstGeom prst="rect">
            <a:avLst/>
          </a:prstGeom>
          <a:noFill/>
          <a:ln/>
        </p:spPr>
        <p:txBody>
          <a:bodyPr wrap="square" rtlCol="0" anchor="t"/>
          <a:lstStyle/>
          <a:p>
            <a:pPr indent="0" marL="0">
              <a:buNone/>
            </a:pPr>
            <a:r>
              <a:rPr lang="en-US" sz="1400" b="1" dirty="0">
                <a:solidFill>
                  <a:srgbClr val="1E2761"/>
                </a:solidFill>
              </a:rPr>
              <a:t>Key Findings
</a:t>
            </a:r>
            <a:endParaRPr lang="en-US" sz="1400" dirty="0"/>
          </a:p>
          <a:p>
            <a:pPr indent="0" marL="0">
              <a:buNone/>
            </a:pPr>
            <a:r>
              <a:rPr lang="en-US" sz="1200" b="1" dirty="0">
                <a:solidFill>
                  <a:srgbClr val="1E2761"/>
                </a:solidFill>
              </a:rPr>
              <a:t>Markups are surprisingly uniform: </a:t>
            </a:r>
            <a:pPr indent="0" marL="0">
              <a:buNone/>
            </a:pPr>
            <a:r>
              <a:rPr lang="en-US" sz="1200" dirty="0">
                <a:solidFill>
                  <a:srgbClr val="2C3E50"/>
                </a:solidFill>
              </a:rPr>
              <a:t>despite a 4× price range ($55–$224), dollar markups cluster tightly in the $27–$37 range. Competition keeps margins in check across all tiers.
</a:t>
            </a:r>
            <a:endParaRPr lang="en-US" sz="1400" dirty="0"/>
          </a:p>
          <a:p>
            <a:pPr indent="0" marL="0">
              <a:buNone/>
            </a:pPr>
            <a:r>
              <a:rPr lang="en-US" sz="1200" b="1" dirty="0">
                <a:solidFill>
                  <a:srgbClr val="1E2761"/>
                </a:solidFill>
              </a:rPr>
              <a:t>Price ≠ Profit: </a:t>
            </a:r>
            <a:pPr indent="0" marL="0">
              <a:buNone/>
            </a:pPr>
            <a:r>
              <a:rPr lang="en-US" sz="1200" dirty="0">
                <a:solidFill>
                  <a:srgbClr val="2C3E50"/>
                </a:solidFill>
              </a:rPr>
              <a:t>Cuisinart's $195 unit cost nearly equals its $224 price. High prices don't guarantee high profit — what matters is share × markup.
</a:t>
            </a:r>
            <a:endParaRPr lang="en-US" sz="1400" dirty="0"/>
          </a:p>
          <a:p>
            <a:pPr indent="0" marL="0">
              <a:buNone/>
            </a:pPr>
            <a:r>
              <a:rPr lang="en-US" sz="1200" b="1" dirty="0">
                <a:solidFill>
                  <a:srgbClr val="1E2761"/>
                </a:solidFill>
              </a:rPr>
              <a:t>Ninja &amp; Instant Pot lead profit </a:t>
            </a:r>
            <a:pPr indent="0" marL="0">
              <a:buNone/>
            </a:pPr>
            <a:r>
              <a:rPr lang="en-US" sz="1200" dirty="0">
                <a:solidFill>
                  <a:srgbClr val="2C3E50"/>
                </a:solidFill>
              </a:rPr>
              <a:t>by combining decent margins (~$33–34) with large market shares. Instant Pot's share was still growing at period end — its true advantage is likely understated.
</a:t>
            </a:r>
            <a:endParaRPr lang="en-US" sz="1400" dirty="0"/>
          </a:p>
          <a:p>
            <a:pPr indent="0" marL="0">
              <a:buNone/>
            </a:pPr>
            <a:r>
              <a:rPr lang="en-US" sz="1200" b="1" dirty="0">
                <a:solidFill>
                  <a:srgbClr val="1E2761"/>
                </a:solidFill>
              </a:rPr>
              <a:t>No negative unit costs: </a:t>
            </a:r>
            <a:pPr indent="0" marL="0">
              <a:buNone/>
            </a:pPr>
            <a:r>
              <a:rPr lang="en-US" sz="1200" dirty="0">
                <a:solidFill>
                  <a:srgbClr val="2C3E50"/>
                </a:solidFill>
              </a:rPr>
              <a:t>All 50 brand-year estimates are positive, confirming the model is economically well-behaved.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Most Important Product Features</a:t>
            </a:r>
            <a:endParaRPr lang="en-US" sz="2600" dirty="0"/>
          </a:p>
        </p:txBody>
      </p:sp>
      <p:sp>
        <p:nvSpPr>
          <p:cNvPr id="3" name="Shape 1"/>
          <p:cNvSpPr/>
          <p:nvPr/>
        </p:nvSpPr>
        <p:spPr>
          <a:xfrm>
            <a:off x="457200" y="868680"/>
            <a:ext cx="8229600" cy="2286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1005840"/>
          <a:ext cx="402336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3657600"/>
          <a:ext cx="4023360" cy="1325880"/>
        </p:xfrm>
        <a:graphic>
          <a:graphicData uri="http://schemas.openxmlformats.org/drawingml/2006/table">
            <a:tbl>
              <a:tblPr/>
              <a:tblGrid>
                <a:gridCol w="1097280"/>
                <a:gridCol w="731520"/>
                <a:gridCol w="640080"/>
                <a:gridCol w="822960"/>
                <a:gridCol w="731520"/>
              </a:tblGrid>
              <a:tr h="201168">
                <a:tc>
                  <a:txBody>
                    <a:bodyPr/>
                    <a:lstStyle/>
                    <a:p>
                      <a:pPr indent="0" marL="0">
                        <a:buNone/>
                      </a:pPr>
                      <a:r>
                        <a:rPr lang="en-US" sz="1000" b="1" dirty="0">
                          <a:solidFill>
                            <a:srgbClr val="FFFFFF"/>
                          </a:solidFill>
                        </a:rPr>
                        <a:t>Brand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rPr>
                        <a:t>Compact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rPr>
                        <a:t>Oven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rPr>
                        <a:t>Rotisserie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rPr>
                        <a:t>Window</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201168">
                <a:tc>
                  <a:txBody>
                    <a:bodyPr/>
                    <a:lstStyle/>
                    <a:p>
                      <a:pPr indent="0" marL="0">
                        <a:buNone/>
                      </a:pPr>
                      <a:r>
                        <a:rPr lang="en-US" sz="1000" dirty="0">
                          <a:solidFill>
                            <a:srgbClr val="000000"/>
                          </a:solidFill>
                        </a:rPr>
                        <a:t>Ninja</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99%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1000" dirty="0">
                          <a:solidFill>
                            <a:srgbClr val="000000"/>
                          </a:solidFill>
                        </a:rPr>
                        <a:t>Cuisinart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91%</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1000" dirty="0">
                          <a:solidFill>
                            <a:srgbClr val="000000"/>
                          </a:solidFill>
                        </a:rPr>
                        <a:t>Instant Pot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86%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68%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1000" dirty="0">
                          <a:solidFill>
                            <a:srgbClr val="000000"/>
                          </a:solidFill>
                        </a:rPr>
                        <a:t>Chefman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96%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60%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37%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36%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1000" dirty="0">
                          <a:solidFill>
                            <a:srgbClr val="000000"/>
                          </a:solidFill>
                        </a:rPr>
                        <a:t>Dash</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89%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1000" dirty="0">
                          <a:solidFill>
                            <a:srgbClr val="000000"/>
                          </a:solidFill>
                        </a:rPr>
                        <a:t>Gowise USA</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100%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Text 2"/>
          <p:cNvSpPr/>
          <p:nvPr/>
        </p:nvSpPr>
        <p:spPr>
          <a:xfrm>
            <a:off x="4572000" y="1005840"/>
            <a:ext cx="4297680" cy="3840480"/>
          </a:xfrm>
          <a:prstGeom prst="rect">
            <a:avLst/>
          </a:prstGeom>
          <a:noFill/>
          <a:ln/>
        </p:spPr>
        <p:txBody>
          <a:bodyPr wrap="square" rtlCol="0" anchor="t"/>
          <a:lstStyle/>
          <a:p>
            <a:pPr indent="0" marL="0">
              <a:buNone/>
            </a:pPr>
            <a:r>
              <a:rPr lang="en-US" sz="1400" b="1" dirty="0">
                <a:solidFill>
                  <a:srgbClr val="1E2761"/>
                </a:solidFill>
              </a:rPr>
              <a:t>Feature Insights
</a:t>
            </a:r>
            <a:endParaRPr lang="en-US" sz="1400" dirty="0"/>
          </a:p>
          <a:p>
            <a:pPr indent="0" marL="0">
              <a:buNone/>
            </a:pPr>
            <a:r>
              <a:rPr lang="en-US" sz="1200" b="1" dirty="0">
                <a:solidFill>
                  <a:srgbClr val="1E2761"/>
                </a:solidFill>
              </a:rPr>
              <a:t>Compact is universal: </a:t>
            </a:r>
            <a:pPr indent="0" marL="0">
              <a:buNone/>
            </a:pPr>
            <a:r>
              <a:rPr lang="en-US" sz="1200" dirty="0">
                <a:solidFill>
                  <a:srgbClr val="2C3E50"/>
                </a:solidFill>
              </a:rPr>
              <a:t>98% of products are compact, making it table stakes for any market participant.
</a:t>
            </a:r>
            <a:endParaRPr lang="en-US" sz="1400" dirty="0"/>
          </a:p>
          <a:p>
            <a:pPr indent="0" marL="0">
              <a:buNone/>
            </a:pPr>
            <a:r>
              <a:rPr lang="en-US" sz="1200" b="1" dirty="0">
                <a:solidFill>
                  <a:srgbClr val="1E2761"/>
                </a:solidFill>
              </a:rPr>
              <a:t>Oven-style is the key differentiator: </a:t>
            </a:r>
            <a:pPr indent="0" marL="0">
              <a:buNone/>
            </a:pPr>
            <a:r>
              <a:rPr lang="en-US" sz="1200" dirty="0">
                <a:solidFill>
                  <a:srgbClr val="2C3E50"/>
                </a:solidFill>
              </a:rPr>
              <a:t>56% share and a positive demand coefficient (+1.94) suggest it drives incremental purchases above compact-only.
</a:t>
            </a:r>
            <a:endParaRPr lang="en-US" sz="1400" dirty="0"/>
          </a:p>
          <a:p>
            <a:pPr indent="0" marL="0">
              <a:buNone/>
            </a:pPr>
            <a:r>
              <a:rPr lang="en-US" sz="1200" b="1" dirty="0">
                <a:solidFill>
                  <a:srgbClr val="1E2761"/>
                </a:solidFill>
              </a:rPr>
              <a:t>Chefman is unique: </a:t>
            </a:r>
            <a:pPr indent="0" marL="0">
              <a:buNone/>
            </a:pPr>
            <a:r>
              <a:rPr lang="en-US" sz="1200" dirty="0">
                <a:solidFill>
                  <a:srgbClr val="2C3E50"/>
                </a:solidFill>
              </a:rPr>
              <a:t>Only brand with meaningful rotisserie (37%) and window (36%) share — a clear niche positioning strategy.
</a:t>
            </a:r>
            <a:endParaRPr lang="en-US" sz="1400" dirty="0"/>
          </a:p>
          <a:p>
            <a:pPr indent="0" marL="0">
              <a:buNone/>
            </a:pPr>
            <a:r>
              <a:rPr lang="en-US" sz="1200" b="1" dirty="0">
                <a:solidFill>
                  <a:srgbClr val="1E2761"/>
                </a:solidFill>
              </a:rPr>
              <a:t>Dual-basket is essentially absent: </a:t>
            </a:r>
            <a:pPr indent="0" marL="0">
              <a:buNone/>
            </a:pPr>
            <a:r>
              <a:rPr lang="en-US" sz="1200" dirty="0">
                <a:solidFill>
                  <a:srgbClr val="2C3E50"/>
                </a:solidFill>
              </a:rPr>
              <a:t>&lt; 1% share across the board — not a meaningful competitive dimension in this period.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Conclusion: Competitive Positions</a:t>
            </a:r>
            <a:endParaRPr lang="en-US" sz="2800" dirty="0"/>
          </a:p>
        </p:txBody>
      </p:sp>
      <p:sp>
        <p:nvSpPr>
          <p:cNvPr id="3" name="Shape 1"/>
          <p:cNvSpPr/>
          <p:nvPr/>
        </p:nvSpPr>
        <p:spPr>
          <a:xfrm>
            <a:off x="548640" y="960120"/>
            <a:ext cx="8046720" cy="27432"/>
          </a:xfrm>
          <a:prstGeom prst="rect">
            <a:avLst/>
          </a:prstGeom>
          <a:solidFill>
            <a:srgbClr val="4A90D9"/>
          </a:solidFill>
          <a:ln w="12700">
            <a:solidFill>
              <a:srgbClr val="4A90D9"/>
            </a:solidFill>
            <a:prstDash val="solid"/>
          </a:ln>
        </p:spPr>
      </p:sp>
      <p:sp>
        <p:nvSpPr>
          <p:cNvPr id="4" name="Shape 2"/>
          <p:cNvSpPr/>
          <p:nvPr/>
        </p:nvSpPr>
        <p:spPr>
          <a:xfrm>
            <a:off x="457200" y="1097280"/>
            <a:ext cx="4114800" cy="1554480"/>
          </a:xfrm>
          <a:prstGeom prst="rect">
            <a:avLst/>
          </a:prstGeom>
          <a:solidFill>
            <a:srgbClr val="243070"/>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097280"/>
            <a:ext cx="4114800" cy="64008"/>
          </a:xfrm>
          <a:prstGeom prst="rect">
            <a:avLst/>
          </a:prstGeom>
          <a:solidFill>
            <a:srgbClr val="27AE60"/>
          </a:solidFill>
          <a:ln w="12700">
            <a:solidFill>
              <a:srgbClr val="27AE60"/>
            </a:solidFill>
            <a:prstDash val="solid"/>
          </a:ln>
        </p:spPr>
      </p:sp>
      <p:sp>
        <p:nvSpPr>
          <p:cNvPr id="6" name="Text 4"/>
          <p:cNvSpPr/>
          <p:nvPr/>
        </p:nvSpPr>
        <p:spPr>
          <a:xfrm>
            <a:off x="594360" y="1188720"/>
            <a:ext cx="3840480" cy="320040"/>
          </a:xfrm>
          <a:prstGeom prst="rect">
            <a:avLst/>
          </a:prstGeom>
          <a:noFill/>
          <a:ln/>
        </p:spPr>
        <p:txBody>
          <a:bodyPr wrap="square" rtlCol="0" anchor="ctr"/>
          <a:lstStyle/>
          <a:p>
            <a:pPr indent="0" marL="0">
              <a:buNone/>
            </a:pPr>
            <a:r>
              <a:rPr lang="en-US" sz="1000" b="1" spc="200" kern="0" dirty="0">
                <a:solidFill>
                  <a:srgbClr val="27AE60"/>
                </a:solidFill>
                <a:latin typeface="Calibri" pitchFamily="34" charset="0"/>
                <a:ea typeface="Calibri" pitchFamily="34" charset="-122"/>
                <a:cs typeface="Calibri" pitchFamily="34" charset="-120"/>
              </a:rPr>
              <a:t>MARKET LEADERS</a:t>
            </a:r>
            <a:endParaRPr lang="en-US" sz="1000" dirty="0"/>
          </a:p>
        </p:txBody>
      </p:sp>
      <p:sp>
        <p:nvSpPr>
          <p:cNvPr id="7" name="Text 5"/>
          <p:cNvSpPr/>
          <p:nvPr/>
        </p:nvSpPr>
        <p:spPr>
          <a:xfrm>
            <a:off x="594360" y="1481328"/>
            <a:ext cx="3840480" cy="32004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Ninja &amp; Instant Pot</a:t>
            </a:r>
            <a:endParaRPr lang="en-US" sz="1400" dirty="0"/>
          </a:p>
        </p:txBody>
      </p:sp>
      <p:sp>
        <p:nvSpPr>
          <p:cNvPr id="8" name="Text 6"/>
          <p:cNvSpPr/>
          <p:nvPr/>
        </p:nvSpPr>
        <p:spPr>
          <a:xfrm>
            <a:off x="594360" y="1828800"/>
            <a:ext cx="3840480" cy="7315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Best combination of markup + share. Ninja leads on ratings; Instant Pot's share still growing. Clear top-tier performers.</a:t>
            </a:r>
            <a:endParaRPr lang="en-US" sz="1100" dirty="0"/>
          </a:p>
        </p:txBody>
      </p:sp>
      <p:sp>
        <p:nvSpPr>
          <p:cNvPr id="9" name="Shape 7"/>
          <p:cNvSpPr/>
          <p:nvPr/>
        </p:nvSpPr>
        <p:spPr>
          <a:xfrm>
            <a:off x="4754880" y="1097280"/>
            <a:ext cx="4114800" cy="1554480"/>
          </a:xfrm>
          <a:prstGeom prst="rect">
            <a:avLst/>
          </a:prstGeom>
          <a:solidFill>
            <a:srgbClr val="243070"/>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097280"/>
            <a:ext cx="4114800" cy="64008"/>
          </a:xfrm>
          <a:prstGeom prst="rect">
            <a:avLst/>
          </a:prstGeom>
          <a:solidFill>
            <a:srgbClr val="F39C12"/>
          </a:solidFill>
          <a:ln w="12700">
            <a:solidFill>
              <a:srgbClr val="F39C12"/>
            </a:solidFill>
            <a:prstDash val="solid"/>
          </a:ln>
        </p:spPr>
      </p:sp>
      <p:sp>
        <p:nvSpPr>
          <p:cNvPr id="11" name="Text 9"/>
          <p:cNvSpPr/>
          <p:nvPr/>
        </p:nvSpPr>
        <p:spPr>
          <a:xfrm>
            <a:off x="4892040" y="1188720"/>
            <a:ext cx="3840480" cy="320040"/>
          </a:xfrm>
          <a:prstGeom prst="rect">
            <a:avLst/>
          </a:prstGeom>
          <a:noFill/>
          <a:ln/>
        </p:spPr>
        <p:txBody>
          <a:bodyPr wrap="square" rtlCol="0" anchor="ctr"/>
          <a:lstStyle/>
          <a:p>
            <a:pPr indent="0" marL="0">
              <a:buNone/>
            </a:pPr>
            <a:r>
              <a:rPr lang="en-US" sz="1000" b="1" spc="200" kern="0" dirty="0">
                <a:solidFill>
                  <a:srgbClr val="F39C12"/>
                </a:solidFill>
                <a:latin typeface="Calibri" pitchFamily="34" charset="0"/>
                <a:ea typeface="Calibri" pitchFamily="34" charset="-122"/>
                <a:cs typeface="Calibri" pitchFamily="34" charset="-120"/>
              </a:rPr>
              <a:t>PREMIUM NICHE</a:t>
            </a:r>
            <a:endParaRPr lang="en-US" sz="1000" dirty="0"/>
          </a:p>
        </p:txBody>
      </p:sp>
      <p:sp>
        <p:nvSpPr>
          <p:cNvPr id="12" name="Text 10"/>
          <p:cNvSpPr/>
          <p:nvPr/>
        </p:nvSpPr>
        <p:spPr>
          <a:xfrm>
            <a:off x="4892040" y="1481328"/>
            <a:ext cx="3840480" cy="32004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Cuisinart &amp; Oster</a:t>
            </a:r>
            <a:endParaRPr lang="en-US" sz="1400" dirty="0"/>
          </a:p>
        </p:txBody>
      </p:sp>
      <p:sp>
        <p:nvSpPr>
          <p:cNvPr id="13" name="Text 11"/>
          <p:cNvSpPr/>
          <p:nvPr/>
        </p:nvSpPr>
        <p:spPr>
          <a:xfrm>
            <a:off x="4892040" y="1828800"/>
            <a:ext cx="3840480" cy="7315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Highest unit costs and prices, but modest share limits total profit. Premium positioning without premium demand.</a:t>
            </a:r>
            <a:endParaRPr lang="en-US" sz="1100" dirty="0"/>
          </a:p>
        </p:txBody>
      </p:sp>
      <p:sp>
        <p:nvSpPr>
          <p:cNvPr id="14" name="Shape 12"/>
          <p:cNvSpPr/>
          <p:nvPr/>
        </p:nvSpPr>
        <p:spPr>
          <a:xfrm>
            <a:off x="457200" y="2834640"/>
            <a:ext cx="4114800" cy="1554480"/>
          </a:xfrm>
          <a:prstGeom prst="rect">
            <a:avLst/>
          </a:prstGeom>
          <a:solidFill>
            <a:srgbClr val="243070"/>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834640"/>
            <a:ext cx="4114800" cy="64008"/>
          </a:xfrm>
          <a:prstGeom prst="rect">
            <a:avLst/>
          </a:prstGeom>
          <a:solidFill>
            <a:srgbClr val="4A90D9"/>
          </a:solidFill>
          <a:ln w="12700">
            <a:solidFill>
              <a:srgbClr val="4A90D9"/>
            </a:solidFill>
            <a:prstDash val="solid"/>
          </a:ln>
        </p:spPr>
      </p:sp>
      <p:sp>
        <p:nvSpPr>
          <p:cNvPr id="16" name="Text 14"/>
          <p:cNvSpPr/>
          <p:nvPr/>
        </p:nvSpPr>
        <p:spPr>
          <a:xfrm>
            <a:off x="594360" y="2926080"/>
            <a:ext cx="3840480" cy="320040"/>
          </a:xfrm>
          <a:prstGeom prst="rect">
            <a:avLst/>
          </a:prstGeom>
          <a:noFill/>
          <a:ln/>
        </p:spPr>
        <p:txBody>
          <a:bodyPr wrap="square" rtlCol="0" anchor="ctr"/>
          <a:lstStyle/>
          <a:p>
            <a:pPr indent="0" marL="0">
              <a:buNone/>
            </a:pPr>
            <a:r>
              <a:rPr lang="en-US" sz="1000" b="1" spc="200" kern="0" dirty="0">
                <a:solidFill>
                  <a:srgbClr val="4A90D9"/>
                </a:solidFill>
                <a:latin typeface="Calibri" pitchFamily="34" charset="0"/>
                <a:ea typeface="Calibri" pitchFamily="34" charset="-122"/>
                <a:cs typeface="Calibri" pitchFamily="34" charset="-120"/>
              </a:rPr>
              <a:t>VALUE CONTENDERS</a:t>
            </a:r>
            <a:endParaRPr lang="en-US" sz="1000" dirty="0"/>
          </a:p>
        </p:txBody>
      </p:sp>
      <p:sp>
        <p:nvSpPr>
          <p:cNvPr id="17" name="Text 15"/>
          <p:cNvSpPr/>
          <p:nvPr/>
        </p:nvSpPr>
        <p:spPr>
          <a:xfrm>
            <a:off x="594360" y="3218688"/>
            <a:ext cx="3840480" cy="32004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Dash, Ultrean &amp; Chefman</a:t>
            </a:r>
            <a:endParaRPr lang="en-US" sz="1400" dirty="0"/>
          </a:p>
        </p:txBody>
      </p:sp>
      <p:sp>
        <p:nvSpPr>
          <p:cNvPr id="18" name="Text 16"/>
          <p:cNvSpPr/>
          <p:nvPr/>
        </p:nvSpPr>
        <p:spPr>
          <a:xfrm>
            <a:off x="594360" y="3566160"/>
            <a:ext cx="3840480" cy="7315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Low cost base, stable share. Dash's economics are strong relative to its price point. Chefman stands out for unique features.</a:t>
            </a:r>
            <a:endParaRPr lang="en-US" sz="1100" dirty="0"/>
          </a:p>
        </p:txBody>
      </p:sp>
      <p:sp>
        <p:nvSpPr>
          <p:cNvPr id="19" name="Shape 17"/>
          <p:cNvSpPr/>
          <p:nvPr/>
        </p:nvSpPr>
        <p:spPr>
          <a:xfrm>
            <a:off x="4754880" y="2834640"/>
            <a:ext cx="4114800" cy="1554480"/>
          </a:xfrm>
          <a:prstGeom prst="rect">
            <a:avLst/>
          </a:prstGeom>
          <a:solidFill>
            <a:srgbClr val="243070"/>
          </a:solidFill>
          <a:ln/>
          <a:effectLst>
            <a:outerShdw sx="100000" sy="100000" kx="0" ky="0" algn="bl" rotWithShape="0" blurRad="76200" dist="25400" dir="8100000">
              <a:srgbClr val="000000">
                <a:alpha val="20000"/>
              </a:srgbClr>
            </a:outerShdw>
          </a:effectLst>
        </p:spPr>
      </p:sp>
      <p:sp>
        <p:nvSpPr>
          <p:cNvPr id="20" name="Shape 18"/>
          <p:cNvSpPr/>
          <p:nvPr/>
        </p:nvSpPr>
        <p:spPr>
          <a:xfrm>
            <a:off x="4754880" y="2834640"/>
            <a:ext cx="4114800" cy="64008"/>
          </a:xfrm>
          <a:prstGeom prst="rect">
            <a:avLst/>
          </a:prstGeom>
          <a:solidFill>
            <a:srgbClr val="E74C3C"/>
          </a:solidFill>
          <a:ln w="12700">
            <a:solidFill>
              <a:srgbClr val="E74C3C"/>
            </a:solidFill>
            <a:prstDash val="solid"/>
          </a:ln>
        </p:spPr>
      </p:sp>
      <p:sp>
        <p:nvSpPr>
          <p:cNvPr id="21" name="Text 19"/>
          <p:cNvSpPr/>
          <p:nvPr/>
        </p:nvSpPr>
        <p:spPr>
          <a:xfrm>
            <a:off x="4892040" y="2926080"/>
            <a:ext cx="3840480" cy="320040"/>
          </a:xfrm>
          <a:prstGeom prst="rect">
            <a:avLst/>
          </a:prstGeom>
          <a:noFill/>
          <a:ln/>
        </p:spPr>
        <p:txBody>
          <a:bodyPr wrap="square" rtlCol="0" anchor="ctr"/>
          <a:lstStyle/>
          <a:p>
            <a:pPr indent="0" marL="0">
              <a:buNone/>
            </a:pPr>
            <a:r>
              <a:rPr lang="en-US" sz="1000" b="1" spc="200" kern="0" dirty="0">
                <a:solidFill>
                  <a:srgbClr val="E74C3C"/>
                </a:solidFill>
                <a:latin typeface="Calibri" pitchFamily="34" charset="0"/>
                <a:ea typeface="Calibri" pitchFamily="34" charset="-122"/>
                <a:cs typeface="Calibri" pitchFamily="34" charset="-120"/>
              </a:rPr>
              <a:t>DECLINING / NICHE</a:t>
            </a:r>
            <a:endParaRPr lang="en-US" sz="1000" dirty="0"/>
          </a:p>
        </p:txBody>
      </p:sp>
      <p:sp>
        <p:nvSpPr>
          <p:cNvPr id="22" name="Text 20"/>
          <p:cNvSpPr/>
          <p:nvPr/>
        </p:nvSpPr>
        <p:spPr>
          <a:xfrm>
            <a:off x="4892040" y="3218688"/>
            <a:ext cx="3840480" cy="32004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Gowise USA</a:t>
            </a:r>
            <a:endParaRPr lang="en-US" sz="1400" dirty="0"/>
          </a:p>
        </p:txBody>
      </p:sp>
      <p:sp>
        <p:nvSpPr>
          <p:cNvPr id="23" name="Text 21"/>
          <p:cNvSpPr/>
          <p:nvPr/>
        </p:nvSpPr>
        <p:spPr>
          <a:xfrm>
            <a:off x="4892040" y="3566160"/>
            <a:ext cx="3840480" cy="7315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Once the market leader (30% share in 2019), now ~5% by 2023. Rapid brand equity erosion with no recovery signal.</a:t>
            </a:r>
            <a:endParaRPr lang="en-US" sz="1100" dirty="0"/>
          </a:p>
        </p:txBody>
      </p:sp>
      <p:sp>
        <p:nvSpPr>
          <p:cNvPr id="24" name="Text 22"/>
          <p:cNvSpPr/>
          <p:nvPr/>
        </p:nvSpPr>
        <p:spPr>
          <a:xfrm>
            <a:off x="457200" y="4709160"/>
            <a:ext cx="8412480" cy="320040"/>
          </a:xfrm>
          <a:prstGeom prst="rect">
            <a:avLst/>
          </a:prstGeom>
          <a:noFill/>
          <a:ln/>
        </p:spPr>
        <p:txBody>
          <a:bodyPr wrap="square"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Playbook: Compete on ratings &amp; brand-building first, pricing second — market share drives profitability more than margin.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Fryer Market Intelligence</dc:title>
  <dc:subject>PptxGenJS Presentation</dc:subject>
  <dc:creator>PptxGenJS</dc:creator>
  <cp:lastModifiedBy>PptxGenJS</cp:lastModifiedBy>
  <cp:revision>1</cp:revision>
  <dcterms:created xsi:type="dcterms:W3CDTF">2026-05-06T01:28:14Z</dcterms:created>
  <dcterms:modified xsi:type="dcterms:W3CDTF">2026-05-06T01:28:14Z</dcterms:modified>
</cp:coreProperties>
</file>