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gowise usa</c:v>
                  </c:pt>
                  <c:pt idx="1">
                    <c:v>ninja</c:v>
                  </c:pt>
                  <c:pt idx="2">
                    <c:v>dash</c:v>
                  </c:pt>
                  <c:pt idx="3">
                    <c:v>cuisinart</c:v>
                  </c:pt>
                  <c:pt idx="4">
                    <c:v>instant_pot</c:v>
                  </c:pt>
                  <c:pt idx="5">
                    <c:v>chefman</c:v>
                  </c:pt>
                  <c:pt idx="6">
                    <c:v>cosori</c:v>
                  </c:pt>
                  <c:pt idx="7">
                    <c:v>nuwave</c:v>
                  </c:pt>
                  <c:pt idx="8">
                    <c:v>oster</c:v>
                  </c:pt>
                  <c:pt idx="9">
                    <c:v>ultrean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</c:v>
                </c:pt>
                <c:pt idx="1">
                  <c:v>19</c:v>
                </c:pt>
                <c:pt idx="2">
                  <c:v>20</c:v>
                </c:pt>
                <c:pt idx="3">
                  <c:v>11</c:v>
                </c:pt>
                <c:pt idx="4">
                  <c:v>2</c:v>
                </c:pt>
                <c:pt idx="5">
                  <c:v>8</c:v>
                </c:pt>
                <c:pt idx="6">
                  <c:v>0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E862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gowise usa</c:v>
                  </c:pt>
                  <c:pt idx="1">
                    <c:v>ninja</c:v>
                  </c:pt>
                  <c:pt idx="2">
                    <c:v>dash</c:v>
                  </c:pt>
                  <c:pt idx="3">
                    <c:v>cuisinart</c:v>
                  </c:pt>
                  <c:pt idx="4">
                    <c:v>instant_pot</c:v>
                  </c:pt>
                  <c:pt idx="5">
                    <c:v>chefman</c:v>
                  </c:pt>
                  <c:pt idx="6">
                    <c:v>cosori</c:v>
                  </c:pt>
                  <c:pt idx="7">
                    <c:v>nuwave</c:v>
                  </c:pt>
                  <c:pt idx="8">
                    <c:v>oster</c:v>
                  </c:pt>
                  <c:pt idx="9">
                    <c:v>ultrean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</c:v>
                </c:pt>
                <c:pt idx="1">
                  <c:v>22</c:v>
                </c:pt>
                <c:pt idx="2">
                  <c:v>6</c:v>
                </c:pt>
                <c:pt idx="3">
                  <c:v>6</c:v>
                </c:pt>
                <c:pt idx="4">
                  <c:v>23</c:v>
                </c:pt>
                <c:pt idx="5">
                  <c:v>14</c:v>
                </c:pt>
                <c:pt idx="6">
                  <c:v>13</c:v>
                </c:pt>
                <c:pt idx="7">
                  <c:v>6</c:v>
                </c:pt>
                <c:pt idx="8">
                  <c:v>3</c:v>
                </c:pt>
                <c:pt idx="9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5D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5D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window</c:v>
                  </c:pt>
                  <c:pt idx="1">
                    <c:v>compact</c:v>
                  </c:pt>
                  <c:pt idx="2">
                    <c:v>oven style</c:v>
                  </c:pt>
                  <c:pt idx="3">
                    <c:v>rotisserie</c:v>
                  </c:pt>
                  <c:pt idx="4">
                    <c:v>dual basket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12.88</c:v>
                </c:pt>
                <c:pt idx="1">
                  <c:v>9.82</c:v>
                </c:pt>
                <c:pt idx="2">
                  <c:v>1.94</c:v>
                </c:pt>
                <c:pt idx="3">
                  <c:v>-5.67</c:v>
                </c:pt>
                <c:pt idx="4">
                  <c:v>-9.51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 Cost ($)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cuisinart</c:v>
                  </c:pt>
                  <c:pt idx="1">
                    <c:v>oster</c:v>
                  </c:pt>
                  <c:pt idx="2">
                    <c:v>ninja</c:v>
                  </c:pt>
                  <c:pt idx="3">
                    <c:v>nuwave</c:v>
                  </c:pt>
                  <c:pt idx="4">
                    <c:v>cosori</c:v>
                  </c:pt>
                  <c:pt idx="5">
                    <c:v>instant_pot</c:v>
                  </c:pt>
                  <c:pt idx="6">
                    <c:v>chefman</c:v>
                  </c:pt>
                  <c:pt idx="7">
                    <c:v>gowise usa</c:v>
                  </c:pt>
                  <c:pt idx="8">
                    <c:v>ultrean</c:v>
                  </c:pt>
                  <c:pt idx="9">
                    <c:v>dash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194.9</c:v>
                </c:pt>
                <c:pt idx="1">
                  <c:v>161.8</c:v>
                </c:pt>
                <c:pt idx="2">
                  <c:v>112.5</c:v>
                </c:pt>
                <c:pt idx="3">
                  <c:v>109.1</c:v>
                </c:pt>
                <c:pt idx="4">
                  <c:v>86.3</c:v>
                </c:pt>
                <c:pt idx="5">
                  <c:v>71.9</c:v>
                </c:pt>
                <c:pt idx="6">
                  <c:v>61.6</c:v>
                </c:pt>
                <c:pt idx="7">
                  <c:v>56.3</c:v>
                </c:pt>
                <c:pt idx="8">
                  <c:v>48.8</c:v>
                </c:pt>
                <c:pt idx="9">
                  <c:v>27.9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Markup ($)</c:v>
                </c:pt>
              </c:strCache>
            </c:strRef>
          </c:tx>
          <c:spPr>
            <a:solidFill>
              <a:srgbClr val="E862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cuisinart</c:v>
                  </c:pt>
                  <c:pt idx="1">
                    <c:v>oster</c:v>
                  </c:pt>
                  <c:pt idx="2">
                    <c:v>ninja</c:v>
                  </c:pt>
                  <c:pt idx="3">
                    <c:v>nuwave</c:v>
                  </c:pt>
                  <c:pt idx="4">
                    <c:v>cosori</c:v>
                  </c:pt>
                  <c:pt idx="5">
                    <c:v>instant_pot</c:v>
                  </c:pt>
                  <c:pt idx="6">
                    <c:v>chefman</c:v>
                  </c:pt>
                  <c:pt idx="7">
                    <c:v>gowise usa</c:v>
                  </c:pt>
                  <c:pt idx="8">
                    <c:v>ultrean</c:v>
                  </c:pt>
                  <c:pt idx="9">
                    <c:v>dash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29.05</c:v>
                </c:pt>
                <c:pt idx="1">
                  <c:v>27.23</c:v>
                </c:pt>
                <c:pt idx="2">
                  <c:v>32.85</c:v>
                </c:pt>
                <c:pt idx="3">
                  <c:v>27.97</c:v>
                </c:pt>
                <c:pt idx="4">
                  <c:v>27.98</c:v>
                </c:pt>
                <c:pt idx="5">
                  <c:v>32.56</c:v>
                </c:pt>
                <c:pt idx="6">
                  <c:v>29.37</c:v>
                </c:pt>
                <c:pt idx="7">
                  <c:v>31.15</c:v>
                </c:pt>
                <c:pt idx="8">
                  <c:v>29.33</c:v>
                </c:pt>
                <c:pt idx="9">
                  <c:v>29.54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Profit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E8622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E8622A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oster</c:v>
                  </c:pt>
                  <c:pt idx="1">
                    <c:v>nuwave</c:v>
                  </c:pt>
                  <c:pt idx="2">
                    <c:v>cosori</c:v>
                  </c:pt>
                  <c:pt idx="3">
                    <c:v>cuisinart</c:v>
                  </c:pt>
                  <c:pt idx="4">
                    <c:v>ultrean</c:v>
                  </c:pt>
                  <c:pt idx="5">
                    <c:v>chefman</c:v>
                  </c:pt>
                  <c:pt idx="6">
                    <c:v>dash</c:v>
                  </c:pt>
                  <c:pt idx="7">
                    <c:v>gowise usa</c:v>
                  </c:pt>
                  <c:pt idx="8">
                    <c:v>instant_pot</c:v>
                  </c:pt>
                  <c:pt idx="9">
                    <c:v>ninja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0.68</c:v>
                </c:pt>
                <c:pt idx="1">
                  <c:v>1.42</c:v>
                </c:pt>
                <c:pt idx="2">
                  <c:v>1.44</c:v>
                </c:pt>
                <c:pt idx="3">
                  <c:v>2.5</c:v>
                </c:pt>
                <c:pt idx="4">
                  <c:v>2.78</c:v>
                </c:pt>
                <c:pt idx="5">
                  <c:v>2.82</c:v>
                </c:pt>
                <c:pt idx="6">
                  <c:v>2.99</c:v>
                </c:pt>
                <c:pt idx="7">
                  <c:v>4.61</c:v>
                </c:pt>
                <c:pt idx="8">
                  <c:v>6.01</c:v>
                </c:pt>
                <c:pt idx="9">
                  <c:v>6.31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Fryer Market Intelligence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11480" y="26060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8B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Estimation, Costs &amp; Competitive Positioning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411480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· Thomas · Yusuf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452628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2019–2023  |  Top 10 Brands  |  Amazon Purchase Data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 Fryer Market: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5603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91440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Brands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5603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91440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0040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Analyzed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868680"/>
            <a:ext cx="256032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91440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Brand-Year Obs.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2331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Market Facts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" y="2697480"/>
            <a:ext cx="8412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range from ~$58 (Dash) to ~$224 (Cuisinart) — a 4x spread across brands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 leads on consumer ratings (avg 4.74/5); Cuisinart trails despite highest price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Gowise USA dominated in 2019 (29% share) but collapsed to 5% by 2023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Pot surged from 2% share in 2019 to 23% by 2023 — the market's biggest mover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other brands held relatively stable shares throughout the period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Share: 2019 vs 2023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77240"/>
          <a:ext cx="8595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Model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412480" cy="9601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8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log(share_bt) = intercept + year effects + brand effects + β_price × price + β_rating × rating + Σ β_feature × features + 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233172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log market share on price, ratings, and product features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fixed effects absorb persistent brand preference beyond observables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fixed effects absorb market-wide demand shifts each year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price coefficient across all brands and years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233172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23774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Coeff.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235915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−0.038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0" y="2743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✓ — law of demand holds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320040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32461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322783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76.4%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fit for 50 observations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406908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4114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409651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(+12.9)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4480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also strongly positive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Demand: Product Features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77240"/>
          <a:ext cx="5029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0" y="822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0" y="128016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577840" y="144475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0" y="137160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&amp; compact features strongly predict higher market share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0" y="214884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577840" y="231343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0" y="224028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style has a moderate positive effect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0" y="301752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77840" y="31821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943600" y="31089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basket &amp; rotisserie are associated with lower share brands — niche products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88620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77840" y="405079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43600" y="397764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ratings consistently boost demand across all brands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Costs, Markups &amp; Profit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77240"/>
          <a:ext cx="8595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Share-Weighted Profit Ranking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77240"/>
          <a:ext cx="53035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760720" y="822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760720" y="128016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alone doesn't win.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Markups are compressed across brands (~$27–$37). The profit winners are brands that combine a solid markup with large market share.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 &amp; Instant Pot lead because they've built both.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Cuisinart charges the most but has middling share — high cost, average profit.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6576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8321040" cy="804672"/>
          </a:xfrm>
          <a:prstGeom prst="rect">
            <a:avLst/>
          </a:prstGeom>
          <a:solidFill>
            <a:srgbClr val="243556"/>
          </a:solidFill>
          <a:ln w="12700">
            <a:solidFill>
              <a:srgbClr val="2E41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97280"/>
            <a:ext cx="54864" cy="804672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shifted, not collapsed.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4813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Gowise USA's decline and Instant Pot's rise are the defining story — not a market-wide trend.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057400"/>
            <a:ext cx="8321040" cy="804672"/>
          </a:xfrm>
          <a:prstGeom prst="rect">
            <a:avLst/>
          </a:prstGeom>
          <a:solidFill>
            <a:srgbClr val="243556"/>
          </a:solidFill>
          <a:ln w="12700">
            <a:solidFill>
              <a:srgbClr val="2E41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057400"/>
            <a:ext cx="54864" cy="804672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1226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≠ quality.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44144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Cuisinart is the most expensive and highest-cost brand, but not the highest rated. Ninja leads on both ratings and profit.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3017520"/>
            <a:ext cx="8321040" cy="804672"/>
          </a:xfrm>
          <a:prstGeom prst="rect">
            <a:avLst/>
          </a:prstGeom>
          <a:solidFill>
            <a:srgbClr val="243556"/>
          </a:solidFill>
          <a:ln w="12700">
            <a:solidFill>
              <a:srgbClr val="2E41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3017520"/>
            <a:ext cx="54864" cy="804672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07238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Markups are surprisingly tight.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40156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a 4x price range, dollar markups cluster between $27–$37. High prices reflect high costs, not outsized margins.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977640"/>
            <a:ext cx="8321040" cy="804672"/>
          </a:xfrm>
          <a:prstGeom prst="rect">
            <a:avLst/>
          </a:prstGeom>
          <a:solidFill>
            <a:srgbClr val="243556"/>
          </a:solidFill>
          <a:ln w="12700">
            <a:solidFill>
              <a:srgbClr val="2E41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977640"/>
            <a:ext cx="54864" cy="804672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03250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formula: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436168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+ market share + moderate cost = profit. Ninja and Instant Pot have cracked this code. New entrants should prioritize brand building over premium pricing.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 Fryer Market Intelligence</dc:title>
  <dc:subject>PptxGenJS Presentation</dc:subject>
  <dc:creator>PptxGenJS</dc:creator>
  <cp:lastModifiedBy>PptxGenJS</cp:lastModifiedBy>
  <cp:revision>1</cp:revision>
  <dcterms:created xsi:type="dcterms:W3CDTF">2026-05-04T23:20:59Z</dcterms:created>
  <dcterms:modified xsi:type="dcterms:W3CDTF">2026-05-04T23:20:59Z</dcterms:modified>
</cp:coreProperties>
</file>